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56" r:id="rId2"/>
    <p:sldId id="276" r:id="rId3"/>
    <p:sldId id="288" r:id="rId4"/>
    <p:sldId id="289" r:id="rId5"/>
    <p:sldId id="277" r:id="rId6"/>
    <p:sldId id="290" r:id="rId7"/>
    <p:sldId id="292" r:id="rId8"/>
    <p:sldId id="293" r:id="rId9"/>
    <p:sldId id="294" r:id="rId10"/>
    <p:sldId id="295" r:id="rId11"/>
    <p:sldId id="296" r:id="rId12"/>
    <p:sldId id="300" r:id="rId13"/>
    <p:sldId id="297" r:id="rId14"/>
    <p:sldId id="298" r:id="rId15"/>
    <p:sldId id="299" r:id="rId16"/>
    <p:sldId id="301" r:id="rId17"/>
    <p:sldId id="302" r:id="rId18"/>
    <p:sldId id="303" r:id="rId19"/>
    <p:sldId id="304" r:id="rId20"/>
    <p:sldId id="305" r:id="rId21"/>
    <p:sldId id="306" r:id="rId22"/>
    <p:sldId id="285" r:id="rId23"/>
  </p:sldIdLst>
  <p:sldSz cx="12192000" cy="6858000"/>
  <p:notesSz cx="6858000" cy="9144000"/>
  <p:defaultTextStyle>
    <a:defPPr rtl="0">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Stile medio 3 - Colore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Stile medio 3 - Colore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3898" autoAdjust="0"/>
  </p:normalViewPr>
  <p:slideViewPr>
    <p:cSldViewPr snapToGrid="0" showGuides="1">
      <p:cViewPr varScale="1">
        <p:scale>
          <a:sx n="100" d="100"/>
          <a:sy n="100" d="100"/>
        </p:scale>
        <p:origin x="96" y="318"/>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89" d="100"/>
          <a:sy n="89" d="100"/>
        </p:scale>
        <p:origin x="3798"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ffaele Carillo" userId="b83180a4536c59e4" providerId="LiveId" clId="{3570F8F0-3F0F-49D6-9DA3-83A88EB867CF}"/>
    <pc:docChg chg="undo custSel modSld">
      <pc:chgData name="Raffaele Carillo" userId="b83180a4536c59e4" providerId="LiveId" clId="{3570F8F0-3F0F-49D6-9DA3-83A88EB867CF}" dt="2026-02-20T00:11:37.785" v="65" actId="20577"/>
      <pc:docMkLst>
        <pc:docMk/>
      </pc:docMkLst>
      <pc:sldChg chg="modSp mod">
        <pc:chgData name="Raffaele Carillo" userId="b83180a4536c59e4" providerId="LiveId" clId="{3570F8F0-3F0F-49D6-9DA3-83A88EB867CF}" dt="2026-02-20T00:11:37.785" v="65" actId="20577"/>
        <pc:sldMkLst>
          <pc:docMk/>
          <pc:sldMk cId="2387849042" sldId="256"/>
        </pc:sldMkLst>
        <pc:spChg chg="mod">
          <ac:chgData name="Raffaele Carillo" userId="b83180a4536c59e4" providerId="LiveId" clId="{3570F8F0-3F0F-49D6-9DA3-83A88EB867CF}" dt="2026-02-20T00:11:28.480" v="54" actId="20577"/>
          <ac:spMkLst>
            <pc:docMk/>
            <pc:sldMk cId="2387849042" sldId="256"/>
            <ac:spMk id="2" creationId="{C4300AEF-1595-4419-801B-6E36A33BB8CF}"/>
          </ac:spMkLst>
        </pc:spChg>
        <pc:spChg chg="mod">
          <ac:chgData name="Raffaele Carillo" userId="b83180a4536c59e4" providerId="LiveId" clId="{3570F8F0-3F0F-49D6-9DA3-83A88EB867CF}" dt="2026-02-20T00:11:37.785" v="65" actId="20577"/>
          <ac:spMkLst>
            <pc:docMk/>
            <pc:sldMk cId="2387849042" sldId="256"/>
            <ac:spMk id="11" creationId="{CA304A53-B83A-06DD-C3FD-A3DDB1163B2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B46527B0-0B24-4087-B225-DB4F5C738F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dirty="0"/>
          </a:p>
        </p:txBody>
      </p:sp>
      <p:sp>
        <p:nvSpPr>
          <p:cNvPr id="3" name="Segnaposto data 2">
            <a:extLst>
              <a:ext uri="{FF2B5EF4-FFF2-40B4-BE49-F238E27FC236}">
                <a16:creationId xmlns:a16="http://schemas.microsoft.com/office/drawing/2014/main" id="{F72798E0-F322-4236-8531-A1882BFE400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B190EFE-CCCB-4DCD-B1CF-8C3CB119D6FE}" type="datetime1">
              <a:rPr lang="it-IT" smtClean="0"/>
              <a:t>23/02/2026</a:t>
            </a:fld>
            <a:endParaRPr lang="it-IT" dirty="0"/>
          </a:p>
        </p:txBody>
      </p:sp>
      <p:sp>
        <p:nvSpPr>
          <p:cNvPr id="4" name="Segnaposto piè di pagina 3">
            <a:extLst>
              <a:ext uri="{FF2B5EF4-FFF2-40B4-BE49-F238E27FC236}">
                <a16:creationId xmlns:a16="http://schemas.microsoft.com/office/drawing/2014/main" id="{B4E5881F-2FD0-41BC-8E76-C691E59E14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dirty="0"/>
          </a:p>
        </p:txBody>
      </p:sp>
      <p:sp>
        <p:nvSpPr>
          <p:cNvPr id="5" name="Segnaposto numero diapositiva 4">
            <a:extLst>
              <a:ext uri="{FF2B5EF4-FFF2-40B4-BE49-F238E27FC236}">
                <a16:creationId xmlns:a16="http://schemas.microsoft.com/office/drawing/2014/main" id="{62CA62C5-8A29-4592-9E3E-4C457F263C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4E85F6F-0FAD-4AD4-850C-7E4CD14D7D70}" type="slidenum">
              <a:rPr lang="it-IT" smtClean="0"/>
              <a:t>‹N›</a:t>
            </a:fld>
            <a:endParaRPr lang="it-IT" dirty="0"/>
          </a:p>
        </p:txBody>
      </p:sp>
    </p:spTree>
    <p:extLst>
      <p:ext uri="{BB962C8B-B14F-4D97-AF65-F5344CB8AC3E}">
        <p14:creationId xmlns:p14="http://schemas.microsoft.com/office/powerpoint/2010/main" val="3583274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it-IT" noProof="0" dirty="0"/>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6AC070-77AE-44FC-B0C8-108B581F9765}" type="datetime1">
              <a:rPr lang="it-IT" noProof="0" smtClean="0"/>
              <a:pPr/>
              <a:t>23/02/2026</a:t>
            </a:fld>
            <a:endParaRPr lang="it-IT" noProof="0" dirty="0"/>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it-IT" noProof="0" dirty="0"/>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it-IT" noProof="0" dirty="0"/>
              <a:t>Modifica gli stili del testo dello schema</a:t>
            </a:r>
          </a:p>
          <a:p>
            <a:pPr lvl="1" rtl="0"/>
            <a:r>
              <a:rPr lang="it-IT" noProof="0" dirty="0"/>
              <a:t>Secondo livello</a:t>
            </a:r>
          </a:p>
          <a:p>
            <a:pPr lvl="2" rtl="0"/>
            <a:r>
              <a:rPr lang="it-IT" noProof="0" dirty="0"/>
              <a:t>Terzo livello</a:t>
            </a:r>
          </a:p>
          <a:p>
            <a:pPr lvl="3" rtl="0"/>
            <a:r>
              <a:rPr lang="it-IT" noProof="0" dirty="0"/>
              <a:t>Quarto livello</a:t>
            </a:r>
          </a:p>
          <a:p>
            <a:pPr lvl="4" rtl="0"/>
            <a:r>
              <a:rPr lang="it-IT" noProof="0" dirty="0"/>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it-IT" noProof="0" dirty="0"/>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E60DC36-8EFA-4378-9855-E019C55AC472}" type="slidenum">
              <a:rPr lang="it-IT" noProof="0" smtClean="0"/>
              <a:t>‹N›</a:t>
            </a:fld>
            <a:endParaRPr lang="it-IT" noProof="0"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a:t>
            </a:fld>
            <a:endParaRPr lang="it-IT" dirty="0"/>
          </a:p>
        </p:txBody>
      </p:sp>
    </p:spTree>
    <p:extLst>
      <p:ext uri="{BB962C8B-B14F-4D97-AF65-F5344CB8AC3E}">
        <p14:creationId xmlns:p14="http://schemas.microsoft.com/office/powerpoint/2010/main" val="1479074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2</a:t>
            </a:fld>
            <a:endParaRPr lang="it-IT" dirty="0"/>
          </a:p>
        </p:txBody>
      </p:sp>
    </p:spTree>
    <p:extLst>
      <p:ext uri="{BB962C8B-B14F-4D97-AF65-F5344CB8AC3E}">
        <p14:creationId xmlns:p14="http://schemas.microsoft.com/office/powerpoint/2010/main" val="1497579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3</a:t>
            </a:fld>
            <a:endParaRPr lang="it-IT" dirty="0"/>
          </a:p>
        </p:txBody>
      </p:sp>
    </p:spTree>
    <p:extLst>
      <p:ext uri="{BB962C8B-B14F-4D97-AF65-F5344CB8AC3E}">
        <p14:creationId xmlns:p14="http://schemas.microsoft.com/office/powerpoint/2010/main" val="3212047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4</a:t>
            </a:fld>
            <a:endParaRPr lang="it-IT" dirty="0"/>
          </a:p>
        </p:txBody>
      </p:sp>
    </p:spTree>
    <p:extLst>
      <p:ext uri="{BB962C8B-B14F-4D97-AF65-F5344CB8AC3E}">
        <p14:creationId xmlns:p14="http://schemas.microsoft.com/office/powerpoint/2010/main" val="3064365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5</a:t>
            </a:fld>
            <a:endParaRPr lang="it-IT" dirty="0"/>
          </a:p>
        </p:txBody>
      </p:sp>
    </p:spTree>
    <p:extLst>
      <p:ext uri="{BB962C8B-B14F-4D97-AF65-F5344CB8AC3E}">
        <p14:creationId xmlns:p14="http://schemas.microsoft.com/office/powerpoint/2010/main" val="1651124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6</a:t>
            </a:fld>
            <a:endParaRPr lang="it-IT" dirty="0"/>
          </a:p>
        </p:txBody>
      </p:sp>
    </p:spTree>
    <p:extLst>
      <p:ext uri="{BB962C8B-B14F-4D97-AF65-F5344CB8AC3E}">
        <p14:creationId xmlns:p14="http://schemas.microsoft.com/office/powerpoint/2010/main" val="16767147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7</a:t>
            </a:fld>
            <a:endParaRPr lang="it-IT" dirty="0"/>
          </a:p>
        </p:txBody>
      </p:sp>
    </p:spTree>
    <p:extLst>
      <p:ext uri="{BB962C8B-B14F-4D97-AF65-F5344CB8AC3E}">
        <p14:creationId xmlns:p14="http://schemas.microsoft.com/office/powerpoint/2010/main" val="4282447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8</a:t>
            </a:fld>
            <a:endParaRPr lang="it-IT" dirty="0"/>
          </a:p>
        </p:txBody>
      </p:sp>
    </p:spTree>
    <p:extLst>
      <p:ext uri="{BB962C8B-B14F-4D97-AF65-F5344CB8AC3E}">
        <p14:creationId xmlns:p14="http://schemas.microsoft.com/office/powerpoint/2010/main" val="1355483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9</a:t>
            </a:fld>
            <a:endParaRPr lang="it-IT" dirty="0"/>
          </a:p>
        </p:txBody>
      </p:sp>
    </p:spTree>
    <p:extLst>
      <p:ext uri="{BB962C8B-B14F-4D97-AF65-F5344CB8AC3E}">
        <p14:creationId xmlns:p14="http://schemas.microsoft.com/office/powerpoint/2010/main" val="18930360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10</a:t>
            </a:fld>
            <a:endParaRPr lang="it-IT" dirty="0"/>
          </a:p>
        </p:txBody>
      </p:sp>
    </p:spTree>
    <p:extLst>
      <p:ext uri="{BB962C8B-B14F-4D97-AF65-F5344CB8AC3E}">
        <p14:creationId xmlns:p14="http://schemas.microsoft.com/office/powerpoint/2010/main" val="3399861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11</a:t>
            </a:fld>
            <a:endParaRPr lang="it-IT" dirty="0"/>
          </a:p>
        </p:txBody>
      </p:sp>
    </p:spTree>
    <p:extLst>
      <p:ext uri="{BB962C8B-B14F-4D97-AF65-F5344CB8AC3E}">
        <p14:creationId xmlns:p14="http://schemas.microsoft.com/office/powerpoint/2010/main" val="22214678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12</a:t>
            </a:fld>
            <a:endParaRPr lang="it-IT" dirty="0"/>
          </a:p>
        </p:txBody>
      </p:sp>
    </p:spTree>
    <p:extLst>
      <p:ext uri="{BB962C8B-B14F-4D97-AF65-F5344CB8AC3E}">
        <p14:creationId xmlns:p14="http://schemas.microsoft.com/office/powerpoint/2010/main" val="2164459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13</a:t>
            </a:fld>
            <a:endParaRPr lang="it-IT" dirty="0"/>
          </a:p>
        </p:txBody>
      </p:sp>
    </p:spTree>
    <p:extLst>
      <p:ext uri="{BB962C8B-B14F-4D97-AF65-F5344CB8AC3E}">
        <p14:creationId xmlns:p14="http://schemas.microsoft.com/office/powerpoint/2010/main" val="815532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14</a:t>
            </a:fld>
            <a:endParaRPr lang="it-IT" dirty="0"/>
          </a:p>
        </p:txBody>
      </p:sp>
    </p:spTree>
    <p:extLst>
      <p:ext uri="{BB962C8B-B14F-4D97-AF65-F5344CB8AC3E}">
        <p14:creationId xmlns:p14="http://schemas.microsoft.com/office/powerpoint/2010/main" val="1147393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15</a:t>
            </a:fld>
            <a:endParaRPr lang="it-IT" dirty="0"/>
          </a:p>
        </p:txBody>
      </p:sp>
    </p:spTree>
    <p:extLst>
      <p:ext uri="{BB962C8B-B14F-4D97-AF65-F5344CB8AC3E}">
        <p14:creationId xmlns:p14="http://schemas.microsoft.com/office/powerpoint/2010/main" val="3799827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16</a:t>
            </a:fld>
            <a:endParaRPr lang="it-IT" dirty="0"/>
          </a:p>
        </p:txBody>
      </p:sp>
    </p:spTree>
    <p:extLst>
      <p:ext uri="{BB962C8B-B14F-4D97-AF65-F5344CB8AC3E}">
        <p14:creationId xmlns:p14="http://schemas.microsoft.com/office/powerpoint/2010/main" val="22466441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17</a:t>
            </a:fld>
            <a:endParaRPr lang="it-IT" dirty="0"/>
          </a:p>
        </p:txBody>
      </p:sp>
    </p:spTree>
    <p:extLst>
      <p:ext uri="{BB962C8B-B14F-4D97-AF65-F5344CB8AC3E}">
        <p14:creationId xmlns:p14="http://schemas.microsoft.com/office/powerpoint/2010/main" val="17512591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18</a:t>
            </a:fld>
            <a:endParaRPr lang="it-IT" dirty="0"/>
          </a:p>
        </p:txBody>
      </p:sp>
    </p:spTree>
    <p:extLst>
      <p:ext uri="{BB962C8B-B14F-4D97-AF65-F5344CB8AC3E}">
        <p14:creationId xmlns:p14="http://schemas.microsoft.com/office/powerpoint/2010/main" val="24068247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19</a:t>
            </a:fld>
            <a:endParaRPr lang="it-IT" dirty="0"/>
          </a:p>
        </p:txBody>
      </p:sp>
    </p:spTree>
    <p:extLst>
      <p:ext uri="{BB962C8B-B14F-4D97-AF65-F5344CB8AC3E}">
        <p14:creationId xmlns:p14="http://schemas.microsoft.com/office/powerpoint/2010/main" val="3351344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20</a:t>
            </a:fld>
            <a:endParaRPr lang="it-IT" dirty="0"/>
          </a:p>
        </p:txBody>
      </p:sp>
    </p:spTree>
    <p:extLst>
      <p:ext uri="{BB962C8B-B14F-4D97-AF65-F5344CB8AC3E}">
        <p14:creationId xmlns:p14="http://schemas.microsoft.com/office/powerpoint/2010/main" val="11180476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21</a:t>
            </a:fld>
            <a:endParaRPr lang="it-IT" dirty="0"/>
          </a:p>
        </p:txBody>
      </p:sp>
    </p:spTree>
    <p:extLst>
      <p:ext uri="{BB962C8B-B14F-4D97-AF65-F5344CB8AC3E}">
        <p14:creationId xmlns:p14="http://schemas.microsoft.com/office/powerpoint/2010/main" val="39089168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rtlCol="0"/>
          <a:lstStyle/>
          <a:p>
            <a:pPr rtl="0"/>
            <a:endParaRPr lang="it-IT" dirty="0"/>
          </a:p>
        </p:txBody>
      </p:sp>
      <p:sp>
        <p:nvSpPr>
          <p:cNvPr id="4" name="Segnaposto numero diapositiva 3"/>
          <p:cNvSpPr>
            <a:spLocks noGrp="1"/>
          </p:cNvSpPr>
          <p:nvPr>
            <p:ph type="sldNum" sz="quarter" idx="5"/>
          </p:nvPr>
        </p:nvSpPr>
        <p:spPr/>
        <p:txBody>
          <a:bodyPr rtlCol="0"/>
          <a:lstStyle/>
          <a:p>
            <a:pPr rtl="0"/>
            <a:fld id="{BE60DC36-8EFA-4378-9855-E019C55AC472}" type="slidenum">
              <a:rPr lang="it-IT" smtClean="0"/>
              <a:t>22</a:t>
            </a:fld>
            <a:endParaRPr lang="it-IT" dirty="0"/>
          </a:p>
        </p:txBody>
      </p:sp>
    </p:spTree>
    <p:extLst>
      <p:ext uri="{BB962C8B-B14F-4D97-AF65-F5344CB8AC3E}">
        <p14:creationId xmlns:p14="http://schemas.microsoft.com/office/powerpoint/2010/main" val="1054801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rtlCol="0" anchor="b"/>
          <a:lstStyle>
            <a:lvl1pPr algn="ctr">
              <a:defRPr sz="6000"/>
            </a:lvl1pPr>
          </a:lstStyle>
          <a:p>
            <a:pPr rtl="0"/>
            <a:r>
              <a:rPr lang="it-IT" noProof="0"/>
              <a:t>Fare clic per modificare lo stile del titolo dello schema</a:t>
            </a:r>
            <a:endParaRPr lang="it-IT" noProof="0" dirty="0"/>
          </a:p>
        </p:txBody>
      </p:sp>
      <p:sp>
        <p:nvSpPr>
          <p:cNvPr id="3" name="Sottotitolo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it-IT" noProof="0"/>
              <a:t>Fare clic per modificare lo stile del sottotitolo dello schema</a:t>
            </a:r>
            <a:endParaRPr lang="it-IT" noProof="0" dirty="0"/>
          </a:p>
        </p:txBody>
      </p:sp>
      <p:sp>
        <p:nvSpPr>
          <p:cNvPr id="4" name="Segnaposto data 3">
            <a:extLst>
              <a:ext uri="{FF2B5EF4-FFF2-40B4-BE49-F238E27FC236}">
                <a16:creationId xmlns:a16="http://schemas.microsoft.com/office/drawing/2014/main" id="{1FBEFBAF-82E9-49AD-B2CF-7D154E024431}"/>
              </a:ext>
            </a:extLst>
          </p:cNvPr>
          <p:cNvSpPr>
            <a:spLocks noGrp="1"/>
          </p:cNvSpPr>
          <p:nvPr>
            <p:ph type="dt" sz="half" idx="10"/>
          </p:nvPr>
        </p:nvSpPr>
        <p:spPr/>
        <p:txBody>
          <a:bodyPr rtlCol="0"/>
          <a:lstStyle/>
          <a:p>
            <a:pPr rtl="0"/>
            <a:fld id="{73953276-A596-464E-8131-16FDC4642D35}" type="datetime1">
              <a:rPr lang="it-IT" noProof="0" smtClean="0"/>
              <a:t>23/02/2026</a:t>
            </a:fld>
            <a:endParaRPr lang="it-IT" noProof="0" dirty="0"/>
          </a:p>
        </p:txBody>
      </p:sp>
      <p:sp>
        <p:nvSpPr>
          <p:cNvPr id="5" name="Segnaposto piè di pagina 4">
            <a:extLst>
              <a:ext uri="{FF2B5EF4-FFF2-40B4-BE49-F238E27FC236}">
                <a16:creationId xmlns:a16="http://schemas.microsoft.com/office/drawing/2014/main" id="{5AD8006A-94B1-44F7-972D-56767EDE3CC3}"/>
              </a:ext>
            </a:extLst>
          </p:cNvPr>
          <p:cNvSpPr>
            <a:spLocks noGrp="1"/>
          </p:cNvSpPr>
          <p:nvPr>
            <p:ph type="ftr" sz="quarter" idx="11"/>
          </p:nvPr>
        </p:nvSpPr>
        <p:spPr/>
        <p:txBody>
          <a:bodyPr rtlCol="0"/>
          <a:lstStyle/>
          <a:p>
            <a:pPr rtl="0"/>
            <a:endParaRPr lang="it-IT" noProof="0" dirty="0"/>
          </a:p>
        </p:txBody>
      </p:sp>
      <p:sp>
        <p:nvSpPr>
          <p:cNvPr id="6" name="Segnaposto numero diapositiva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807FBE-061D-452C-A8A6-213063CFD678}"/>
              </a:ext>
            </a:extLst>
          </p:cNvPr>
          <p:cNvSpPr>
            <a:spLocks noGrp="1"/>
          </p:cNvSpPr>
          <p:nvPr>
            <p:ph type="title"/>
          </p:nvPr>
        </p:nvSpPr>
        <p:spPr/>
        <p:txBody>
          <a:bodyPr rtlCol="0"/>
          <a:lstStyle/>
          <a:p>
            <a:pPr rtl="0"/>
            <a:r>
              <a:rPr lang="it-IT" noProof="0"/>
              <a:t>Fare clic per modificare lo stile del titolo dello schema</a:t>
            </a:r>
            <a:endParaRPr lang="it-IT" noProof="0" dirty="0"/>
          </a:p>
        </p:txBody>
      </p:sp>
      <p:sp>
        <p:nvSpPr>
          <p:cNvPr id="3" name="Segnaposto contenuto 2">
            <a:extLst>
              <a:ext uri="{FF2B5EF4-FFF2-40B4-BE49-F238E27FC236}">
                <a16:creationId xmlns:a16="http://schemas.microsoft.com/office/drawing/2014/main" id="{433A3535-1708-499D-B5D2-7D8F9FD182D0}"/>
              </a:ext>
            </a:extLst>
          </p:cNvPr>
          <p:cNvSpPr>
            <a:spLocks noGrp="1"/>
          </p:cNvSpPr>
          <p:nvPr>
            <p:ph idx="1"/>
          </p:nvPr>
        </p:nvSpPr>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data 3">
            <a:extLst>
              <a:ext uri="{FF2B5EF4-FFF2-40B4-BE49-F238E27FC236}">
                <a16:creationId xmlns:a16="http://schemas.microsoft.com/office/drawing/2014/main" id="{ACB06063-A112-49AB-80C8-504D99ECD771}"/>
              </a:ext>
            </a:extLst>
          </p:cNvPr>
          <p:cNvSpPr>
            <a:spLocks noGrp="1"/>
          </p:cNvSpPr>
          <p:nvPr>
            <p:ph type="dt" sz="half" idx="10"/>
          </p:nvPr>
        </p:nvSpPr>
        <p:spPr/>
        <p:txBody>
          <a:bodyPr rtlCol="0"/>
          <a:lstStyle/>
          <a:p>
            <a:pPr rtl="0"/>
            <a:fld id="{4CA1E7DF-6F8F-47CE-8C70-53A994FBF180}" type="datetime1">
              <a:rPr lang="it-IT" noProof="0" smtClean="0"/>
              <a:t>23/02/2026</a:t>
            </a:fld>
            <a:endParaRPr lang="it-IT" noProof="0" dirty="0"/>
          </a:p>
        </p:txBody>
      </p:sp>
      <p:sp>
        <p:nvSpPr>
          <p:cNvPr id="5" name="Segnaposto piè di pagina 4">
            <a:extLst>
              <a:ext uri="{FF2B5EF4-FFF2-40B4-BE49-F238E27FC236}">
                <a16:creationId xmlns:a16="http://schemas.microsoft.com/office/drawing/2014/main" id="{6344C8D5-F898-4318-A76D-1FBD87329198}"/>
              </a:ext>
            </a:extLst>
          </p:cNvPr>
          <p:cNvSpPr>
            <a:spLocks noGrp="1"/>
          </p:cNvSpPr>
          <p:nvPr>
            <p:ph type="ftr" sz="quarter" idx="11"/>
          </p:nvPr>
        </p:nvSpPr>
        <p:spPr/>
        <p:txBody>
          <a:bodyPr rtlCol="0"/>
          <a:lstStyle/>
          <a:p>
            <a:pPr rtl="0"/>
            <a:endParaRPr lang="it-IT" noProof="0" dirty="0"/>
          </a:p>
        </p:txBody>
      </p:sp>
      <p:sp>
        <p:nvSpPr>
          <p:cNvPr id="6" name="Segnaposto numero diapositiva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rtlCol="0" anchor="b"/>
          <a:lstStyle>
            <a:lvl1pPr>
              <a:defRPr sz="6000"/>
            </a:lvl1pPr>
          </a:lstStyle>
          <a:p>
            <a:pPr rtl="0"/>
            <a:r>
              <a:rPr lang="it-IT" noProof="0"/>
              <a:t>Fare clic per modificare lo stile del titolo dello schema</a:t>
            </a:r>
            <a:endParaRPr lang="it-IT" noProof="0" dirty="0"/>
          </a:p>
        </p:txBody>
      </p:sp>
      <p:sp>
        <p:nvSpPr>
          <p:cNvPr id="3" name="Segnaposto testo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it-IT" noProof="0"/>
              <a:t>Fare clic per modificare gli stili del testo dello schema</a:t>
            </a:r>
          </a:p>
        </p:txBody>
      </p:sp>
      <p:sp>
        <p:nvSpPr>
          <p:cNvPr id="4" name="Segnaposto data 3">
            <a:extLst>
              <a:ext uri="{FF2B5EF4-FFF2-40B4-BE49-F238E27FC236}">
                <a16:creationId xmlns:a16="http://schemas.microsoft.com/office/drawing/2014/main" id="{D5FF82DB-B518-40FD-8A66-44B874C055FB}"/>
              </a:ext>
            </a:extLst>
          </p:cNvPr>
          <p:cNvSpPr>
            <a:spLocks noGrp="1"/>
          </p:cNvSpPr>
          <p:nvPr>
            <p:ph type="dt" sz="half" idx="10"/>
          </p:nvPr>
        </p:nvSpPr>
        <p:spPr/>
        <p:txBody>
          <a:bodyPr rtlCol="0"/>
          <a:lstStyle/>
          <a:p>
            <a:pPr rtl="0"/>
            <a:fld id="{2CFB8710-ABAB-4285-AF31-02779743E1F4}" type="datetime1">
              <a:rPr lang="it-IT" noProof="0" smtClean="0"/>
              <a:t>23/02/2026</a:t>
            </a:fld>
            <a:endParaRPr lang="it-IT" noProof="0" dirty="0"/>
          </a:p>
        </p:txBody>
      </p:sp>
      <p:sp>
        <p:nvSpPr>
          <p:cNvPr id="5" name="Segnaposto piè di pagina 4">
            <a:extLst>
              <a:ext uri="{FF2B5EF4-FFF2-40B4-BE49-F238E27FC236}">
                <a16:creationId xmlns:a16="http://schemas.microsoft.com/office/drawing/2014/main" id="{FCC1CCEE-725F-4745-837B-87EFB70E71D8}"/>
              </a:ext>
            </a:extLst>
          </p:cNvPr>
          <p:cNvSpPr>
            <a:spLocks noGrp="1"/>
          </p:cNvSpPr>
          <p:nvPr>
            <p:ph type="ftr" sz="quarter" idx="11"/>
          </p:nvPr>
        </p:nvSpPr>
        <p:spPr/>
        <p:txBody>
          <a:bodyPr rtlCol="0"/>
          <a:lstStyle/>
          <a:p>
            <a:pPr rtl="0"/>
            <a:endParaRPr lang="it-IT" noProof="0" dirty="0"/>
          </a:p>
        </p:txBody>
      </p:sp>
      <p:sp>
        <p:nvSpPr>
          <p:cNvPr id="6" name="Segnaposto numero diapositiva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BCC9BDC-6F21-4EF5-A8DD-E35E27EACA58}"/>
              </a:ext>
            </a:extLst>
          </p:cNvPr>
          <p:cNvSpPr>
            <a:spLocks noGrp="1"/>
          </p:cNvSpPr>
          <p:nvPr>
            <p:ph type="title"/>
          </p:nvPr>
        </p:nvSpPr>
        <p:spPr/>
        <p:txBody>
          <a:bodyPr rtlCol="0"/>
          <a:lstStyle/>
          <a:p>
            <a:pPr rtl="0"/>
            <a:r>
              <a:rPr lang="it-IT" noProof="0"/>
              <a:t>Fare clic per modificare lo stile del titolo dello schema</a:t>
            </a:r>
            <a:endParaRPr lang="it-IT" noProof="0" dirty="0"/>
          </a:p>
        </p:txBody>
      </p:sp>
      <p:sp>
        <p:nvSpPr>
          <p:cNvPr id="3" name="Segnaposto contenuto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contenuto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5" name="Segnaposto data 4">
            <a:extLst>
              <a:ext uri="{FF2B5EF4-FFF2-40B4-BE49-F238E27FC236}">
                <a16:creationId xmlns:a16="http://schemas.microsoft.com/office/drawing/2014/main" id="{85108EDC-3863-43B9-93C7-37465DC73B28}"/>
              </a:ext>
            </a:extLst>
          </p:cNvPr>
          <p:cNvSpPr>
            <a:spLocks noGrp="1"/>
          </p:cNvSpPr>
          <p:nvPr>
            <p:ph type="dt" sz="half" idx="10"/>
          </p:nvPr>
        </p:nvSpPr>
        <p:spPr/>
        <p:txBody>
          <a:bodyPr rtlCol="0"/>
          <a:lstStyle/>
          <a:p>
            <a:pPr rtl="0"/>
            <a:fld id="{FE1FD3F1-0F70-4F3C-841E-3B4B1A9982AD}" type="datetime1">
              <a:rPr lang="it-IT" noProof="0" smtClean="0"/>
              <a:t>23/02/2026</a:t>
            </a:fld>
            <a:endParaRPr lang="it-IT" noProof="0" dirty="0"/>
          </a:p>
        </p:txBody>
      </p:sp>
      <p:sp>
        <p:nvSpPr>
          <p:cNvPr id="6" name="Segnaposto piè di pagina 5">
            <a:extLst>
              <a:ext uri="{FF2B5EF4-FFF2-40B4-BE49-F238E27FC236}">
                <a16:creationId xmlns:a16="http://schemas.microsoft.com/office/drawing/2014/main" id="{A777D452-958D-4159-A9A4-16DD29680A04}"/>
              </a:ext>
            </a:extLst>
          </p:cNvPr>
          <p:cNvSpPr>
            <a:spLocks noGrp="1"/>
          </p:cNvSpPr>
          <p:nvPr>
            <p:ph type="ftr" sz="quarter" idx="11"/>
          </p:nvPr>
        </p:nvSpPr>
        <p:spPr/>
        <p:txBody>
          <a:bodyPr rtlCol="0"/>
          <a:lstStyle/>
          <a:p>
            <a:pPr rtl="0"/>
            <a:endParaRPr lang="it-IT" noProof="0" dirty="0"/>
          </a:p>
        </p:txBody>
      </p:sp>
      <p:sp>
        <p:nvSpPr>
          <p:cNvPr id="7" name="Segnaposto numero diapositiva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rtlCol="0"/>
          <a:lstStyle/>
          <a:p>
            <a:pPr rtl="0"/>
            <a:r>
              <a:rPr lang="it-IT" noProof="0"/>
              <a:t>Fare clic per modificare lo stile del titolo dello schema</a:t>
            </a:r>
            <a:endParaRPr lang="it-IT" noProof="0" dirty="0"/>
          </a:p>
        </p:txBody>
      </p:sp>
      <p:sp>
        <p:nvSpPr>
          <p:cNvPr id="3" name="Segnaposto testo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4" name="Segnaposto contenuto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5" name="Segnaposto testo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it-IT" noProof="0"/>
              <a:t>Fare clic per modificare gli stili del testo dello schema</a:t>
            </a:r>
          </a:p>
        </p:txBody>
      </p:sp>
      <p:sp>
        <p:nvSpPr>
          <p:cNvPr id="6" name="Segnaposto contenuto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7" name="Segnaposto data 6">
            <a:extLst>
              <a:ext uri="{FF2B5EF4-FFF2-40B4-BE49-F238E27FC236}">
                <a16:creationId xmlns:a16="http://schemas.microsoft.com/office/drawing/2014/main" id="{6E80206F-8846-425C-A56E-16FFBA442014}"/>
              </a:ext>
            </a:extLst>
          </p:cNvPr>
          <p:cNvSpPr>
            <a:spLocks noGrp="1"/>
          </p:cNvSpPr>
          <p:nvPr>
            <p:ph type="dt" sz="half" idx="10"/>
          </p:nvPr>
        </p:nvSpPr>
        <p:spPr/>
        <p:txBody>
          <a:bodyPr rtlCol="0"/>
          <a:lstStyle/>
          <a:p>
            <a:pPr rtl="0"/>
            <a:fld id="{3195CD94-E959-4436-A899-6BFB5CD81E9E}" type="datetime1">
              <a:rPr lang="it-IT" noProof="0" smtClean="0"/>
              <a:t>23/02/2026</a:t>
            </a:fld>
            <a:endParaRPr lang="it-IT" noProof="0" dirty="0"/>
          </a:p>
        </p:txBody>
      </p:sp>
      <p:sp>
        <p:nvSpPr>
          <p:cNvPr id="8" name="Segnaposto piè di pagina 7">
            <a:extLst>
              <a:ext uri="{FF2B5EF4-FFF2-40B4-BE49-F238E27FC236}">
                <a16:creationId xmlns:a16="http://schemas.microsoft.com/office/drawing/2014/main" id="{6A45E89F-12CF-4561-A5F2-1E05783A3063}"/>
              </a:ext>
            </a:extLst>
          </p:cNvPr>
          <p:cNvSpPr>
            <a:spLocks noGrp="1"/>
          </p:cNvSpPr>
          <p:nvPr>
            <p:ph type="ftr" sz="quarter" idx="11"/>
          </p:nvPr>
        </p:nvSpPr>
        <p:spPr/>
        <p:txBody>
          <a:bodyPr rtlCol="0"/>
          <a:lstStyle/>
          <a:p>
            <a:pPr rtl="0"/>
            <a:endParaRPr lang="it-IT" noProof="0" dirty="0"/>
          </a:p>
        </p:txBody>
      </p:sp>
      <p:sp>
        <p:nvSpPr>
          <p:cNvPr id="9" name="Segnaposto numero diapositiva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B560E367-8DA0-4655-BCBC-F4280D8642CD}"/>
              </a:ext>
            </a:extLst>
          </p:cNvPr>
          <p:cNvSpPr>
            <a:spLocks noGrp="1"/>
          </p:cNvSpPr>
          <p:nvPr>
            <p:ph type="title"/>
          </p:nvPr>
        </p:nvSpPr>
        <p:spPr/>
        <p:txBody>
          <a:bodyPr rtlCol="0"/>
          <a:lstStyle/>
          <a:p>
            <a:pPr rtl="0"/>
            <a:r>
              <a:rPr lang="it-IT" noProof="0"/>
              <a:t>Fare clic per modificare lo stile del titolo dello schema</a:t>
            </a:r>
            <a:endParaRPr lang="it-IT" noProof="0" dirty="0"/>
          </a:p>
        </p:txBody>
      </p:sp>
      <p:sp>
        <p:nvSpPr>
          <p:cNvPr id="3" name="Segnaposto data 2">
            <a:extLst>
              <a:ext uri="{FF2B5EF4-FFF2-40B4-BE49-F238E27FC236}">
                <a16:creationId xmlns:a16="http://schemas.microsoft.com/office/drawing/2014/main" id="{2FEF9592-AA3C-4CF8-A5DB-4D010195A438}"/>
              </a:ext>
            </a:extLst>
          </p:cNvPr>
          <p:cNvSpPr>
            <a:spLocks noGrp="1"/>
          </p:cNvSpPr>
          <p:nvPr>
            <p:ph type="dt" sz="half" idx="10"/>
          </p:nvPr>
        </p:nvSpPr>
        <p:spPr/>
        <p:txBody>
          <a:bodyPr rtlCol="0"/>
          <a:lstStyle/>
          <a:p>
            <a:pPr rtl="0"/>
            <a:fld id="{327B0C7F-749B-466A-A38A-03B1C8A2F06C}" type="datetime1">
              <a:rPr lang="it-IT" noProof="0" smtClean="0"/>
              <a:t>23/02/2026</a:t>
            </a:fld>
            <a:endParaRPr lang="it-IT" noProof="0" dirty="0"/>
          </a:p>
        </p:txBody>
      </p:sp>
      <p:sp>
        <p:nvSpPr>
          <p:cNvPr id="4" name="Segnaposto piè di pagina 3">
            <a:extLst>
              <a:ext uri="{FF2B5EF4-FFF2-40B4-BE49-F238E27FC236}">
                <a16:creationId xmlns:a16="http://schemas.microsoft.com/office/drawing/2014/main" id="{3C2C9377-F93E-4515-852A-264707755154}"/>
              </a:ext>
            </a:extLst>
          </p:cNvPr>
          <p:cNvSpPr>
            <a:spLocks noGrp="1"/>
          </p:cNvSpPr>
          <p:nvPr>
            <p:ph type="ftr" sz="quarter" idx="11"/>
          </p:nvPr>
        </p:nvSpPr>
        <p:spPr/>
        <p:txBody>
          <a:bodyPr rtlCol="0"/>
          <a:lstStyle/>
          <a:p>
            <a:pPr rtl="0"/>
            <a:endParaRPr lang="it-IT" noProof="0" dirty="0"/>
          </a:p>
        </p:txBody>
      </p:sp>
      <p:sp>
        <p:nvSpPr>
          <p:cNvPr id="5" name="Segnaposto numero diapositiva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1EA599B4-6AB2-4190-82B5-7667EE1E922A}"/>
              </a:ext>
            </a:extLst>
          </p:cNvPr>
          <p:cNvSpPr>
            <a:spLocks noGrp="1"/>
          </p:cNvSpPr>
          <p:nvPr>
            <p:ph type="dt" sz="half" idx="10"/>
          </p:nvPr>
        </p:nvSpPr>
        <p:spPr/>
        <p:txBody>
          <a:bodyPr rtlCol="0"/>
          <a:lstStyle/>
          <a:p>
            <a:pPr rtl="0"/>
            <a:fld id="{DEC309BE-2E90-45F2-A626-98CE1308C9C4}" type="datetime1">
              <a:rPr lang="it-IT" noProof="0" smtClean="0"/>
              <a:t>23/02/2026</a:t>
            </a:fld>
            <a:endParaRPr lang="it-IT" noProof="0" dirty="0"/>
          </a:p>
        </p:txBody>
      </p:sp>
      <p:sp>
        <p:nvSpPr>
          <p:cNvPr id="3" name="Segnaposto piè di pagina 2">
            <a:extLst>
              <a:ext uri="{FF2B5EF4-FFF2-40B4-BE49-F238E27FC236}">
                <a16:creationId xmlns:a16="http://schemas.microsoft.com/office/drawing/2014/main" id="{1B8FBFB3-AD86-4E39-B8AE-B4EC14528156}"/>
              </a:ext>
            </a:extLst>
          </p:cNvPr>
          <p:cNvSpPr>
            <a:spLocks noGrp="1"/>
          </p:cNvSpPr>
          <p:nvPr>
            <p:ph type="ftr" sz="quarter" idx="11"/>
          </p:nvPr>
        </p:nvSpPr>
        <p:spPr/>
        <p:txBody>
          <a:bodyPr rtlCol="0"/>
          <a:lstStyle/>
          <a:p>
            <a:pPr rtl="0"/>
            <a:endParaRPr lang="it-IT" noProof="0" dirty="0"/>
          </a:p>
        </p:txBody>
      </p:sp>
      <p:sp>
        <p:nvSpPr>
          <p:cNvPr id="4" name="Segnaposto numero diapositiva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rtlCol="0" anchor="b"/>
          <a:lstStyle>
            <a:lvl1pPr>
              <a:defRPr sz="3200"/>
            </a:lvl1pPr>
          </a:lstStyle>
          <a:p>
            <a:pPr rtl="0"/>
            <a:r>
              <a:rPr lang="it-IT" noProof="0"/>
              <a:t>Fare clic per modificare lo stile del titolo dello schema</a:t>
            </a:r>
            <a:endParaRPr lang="it-IT" noProof="0" dirty="0"/>
          </a:p>
        </p:txBody>
      </p:sp>
      <p:sp>
        <p:nvSpPr>
          <p:cNvPr id="3" name="Segnaposto contenuto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testo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gli stili del testo dello schema</a:t>
            </a:r>
          </a:p>
        </p:txBody>
      </p:sp>
      <p:sp>
        <p:nvSpPr>
          <p:cNvPr id="5" name="Segnaposto data 4">
            <a:extLst>
              <a:ext uri="{FF2B5EF4-FFF2-40B4-BE49-F238E27FC236}">
                <a16:creationId xmlns:a16="http://schemas.microsoft.com/office/drawing/2014/main" id="{F180DD20-7A20-4574-98A4-427795876739}"/>
              </a:ext>
            </a:extLst>
          </p:cNvPr>
          <p:cNvSpPr>
            <a:spLocks noGrp="1"/>
          </p:cNvSpPr>
          <p:nvPr>
            <p:ph type="dt" sz="half" idx="10"/>
          </p:nvPr>
        </p:nvSpPr>
        <p:spPr/>
        <p:txBody>
          <a:bodyPr rtlCol="0"/>
          <a:lstStyle/>
          <a:p>
            <a:pPr rtl="0"/>
            <a:fld id="{D7D791A9-9A19-4C7D-9EDF-F6B9F670B73C}" type="datetime1">
              <a:rPr lang="it-IT" noProof="0" smtClean="0"/>
              <a:t>23/02/2026</a:t>
            </a:fld>
            <a:endParaRPr lang="it-IT" noProof="0" dirty="0"/>
          </a:p>
        </p:txBody>
      </p:sp>
      <p:sp>
        <p:nvSpPr>
          <p:cNvPr id="6" name="Segnaposto piè di pagina 5">
            <a:extLst>
              <a:ext uri="{FF2B5EF4-FFF2-40B4-BE49-F238E27FC236}">
                <a16:creationId xmlns:a16="http://schemas.microsoft.com/office/drawing/2014/main" id="{54D0ED2B-71C4-421A-9DB0-676E00C10BDC}"/>
              </a:ext>
            </a:extLst>
          </p:cNvPr>
          <p:cNvSpPr>
            <a:spLocks noGrp="1"/>
          </p:cNvSpPr>
          <p:nvPr>
            <p:ph type="ftr" sz="quarter" idx="11"/>
          </p:nvPr>
        </p:nvSpPr>
        <p:spPr/>
        <p:txBody>
          <a:bodyPr rtlCol="0"/>
          <a:lstStyle/>
          <a:p>
            <a:pPr rtl="0"/>
            <a:endParaRPr lang="it-IT" noProof="0" dirty="0"/>
          </a:p>
        </p:txBody>
      </p:sp>
      <p:sp>
        <p:nvSpPr>
          <p:cNvPr id="7" name="Segnaposto numero diapositiva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rtlCol="0" anchor="b"/>
          <a:lstStyle>
            <a:lvl1pPr>
              <a:defRPr sz="3200"/>
            </a:lvl1pPr>
          </a:lstStyle>
          <a:p>
            <a:pPr rtl="0"/>
            <a:r>
              <a:rPr lang="it-IT" noProof="0"/>
              <a:t>Fare clic per modificare lo stile del titolo dello schema</a:t>
            </a:r>
            <a:endParaRPr lang="it-IT" noProof="0" dirty="0"/>
          </a:p>
        </p:txBody>
      </p:sp>
      <p:sp>
        <p:nvSpPr>
          <p:cNvPr id="3" name="Segnaposto immagine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it-IT" noProof="0"/>
              <a:t>Fare clic sull'icona per inserire un'immagine</a:t>
            </a:r>
            <a:endParaRPr lang="it-IT" noProof="0" dirty="0"/>
          </a:p>
        </p:txBody>
      </p:sp>
      <p:sp>
        <p:nvSpPr>
          <p:cNvPr id="4" name="Segnaposto testo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it-IT" noProof="0"/>
              <a:t>Fare clic per modificare gli stili del testo dello schema</a:t>
            </a:r>
          </a:p>
        </p:txBody>
      </p:sp>
      <p:sp>
        <p:nvSpPr>
          <p:cNvPr id="5" name="Segnaposto data 4">
            <a:extLst>
              <a:ext uri="{FF2B5EF4-FFF2-40B4-BE49-F238E27FC236}">
                <a16:creationId xmlns:a16="http://schemas.microsoft.com/office/drawing/2014/main" id="{5C3C3F7B-A4C8-4F9D-8165-BC5186EA0929}"/>
              </a:ext>
            </a:extLst>
          </p:cNvPr>
          <p:cNvSpPr>
            <a:spLocks noGrp="1"/>
          </p:cNvSpPr>
          <p:nvPr>
            <p:ph type="dt" sz="half" idx="10"/>
          </p:nvPr>
        </p:nvSpPr>
        <p:spPr/>
        <p:txBody>
          <a:bodyPr rtlCol="0"/>
          <a:lstStyle/>
          <a:p>
            <a:pPr rtl="0"/>
            <a:fld id="{1C87147A-BE07-4D89-850F-642EAF1AAEA9}" type="datetime1">
              <a:rPr lang="it-IT" noProof="0" smtClean="0"/>
              <a:t>23/02/2026</a:t>
            </a:fld>
            <a:endParaRPr lang="it-IT" noProof="0" dirty="0"/>
          </a:p>
        </p:txBody>
      </p:sp>
      <p:sp>
        <p:nvSpPr>
          <p:cNvPr id="6" name="Segnaposto piè di pagina 5">
            <a:extLst>
              <a:ext uri="{FF2B5EF4-FFF2-40B4-BE49-F238E27FC236}">
                <a16:creationId xmlns:a16="http://schemas.microsoft.com/office/drawing/2014/main" id="{DE696EA5-2FA2-464D-982F-C53E6426A843}"/>
              </a:ext>
            </a:extLst>
          </p:cNvPr>
          <p:cNvSpPr>
            <a:spLocks noGrp="1"/>
          </p:cNvSpPr>
          <p:nvPr>
            <p:ph type="ftr" sz="quarter" idx="11"/>
          </p:nvPr>
        </p:nvSpPr>
        <p:spPr/>
        <p:txBody>
          <a:bodyPr rtlCol="0"/>
          <a:lstStyle/>
          <a:p>
            <a:pPr rtl="0"/>
            <a:endParaRPr lang="it-IT" noProof="0" dirty="0"/>
          </a:p>
        </p:txBody>
      </p:sp>
      <p:sp>
        <p:nvSpPr>
          <p:cNvPr id="7" name="Segnaposto numero diapositiva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5F7B869-BFB2-4C20-8AB1-46704BB3D177}"/>
              </a:ext>
            </a:extLst>
          </p:cNvPr>
          <p:cNvSpPr>
            <a:spLocks noGrp="1"/>
          </p:cNvSpPr>
          <p:nvPr>
            <p:ph type="title"/>
          </p:nvPr>
        </p:nvSpPr>
        <p:spPr/>
        <p:txBody>
          <a:bodyPr rtlCol="0"/>
          <a:lstStyle/>
          <a:p>
            <a:pPr rtl="0"/>
            <a:r>
              <a:rPr lang="it-IT" noProof="0"/>
              <a:t>Fare clic per modificare lo stile del titolo dello schema</a:t>
            </a:r>
            <a:endParaRPr lang="it-IT" noProof="0" dirty="0"/>
          </a:p>
        </p:txBody>
      </p:sp>
      <p:sp>
        <p:nvSpPr>
          <p:cNvPr id="3" name="Segnaposto testo verticale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data 3">
            <a:extLst>
              <a:ext uri="{FF2B5EF4-FFF2-40B4-BE49-F238E27FC236}">
                <a16:creationId xmlns:a16="http://schemas.microsoft.com/office/drawing/2014/main" id="{16FFA8DA-0E31-4CA6-BBFC-2467AAD1D30B}"/>
              </a:ext>
            </a:extLst>
          </p:cNvPr>
          <p:cNvSpPr>
            <a:spLocks noGrp="1"/>
          </p:cNvSpPr>
          <p:nvPr>
            <p:ph type="dt" sz="half" idx="10"/>
          </p:nvPr>
        </p:nvSpPr>
        <p:spPr/>
        <p:txBody>
          <a:bodyPr rtlCol="0"/>
          <a:lstStyle/>
          <a:p>
            <a:pPr rtl="0"/>
            <a:fld id="{59F66E3F-D06F-47DA-A95C-C846DE23F8C0}" type="datetime1">
              <a:rPr lang="it-IT" noProof="0" smtClean="0"/>
              <a:t>23/02/2026</a:t>
            </a:fld>
            <a:endParaRPr lang="it-IT" noProof="0" dirty="0"/>
          </a:p>
        </p:txBody>
      </p:sp>
      <p:sp>
        <p:nvSpPr>
          <p:cNvPr id="5" name="Segnaposto piè di pagina 4">
            <a:extLst>
              <a:ext uri="{FF2B5EF4-FFF2-40B4-BE49-F238E27FC236}">
                <a16:creationId xmlns:a16="http://schemas.microsoft.com/office/drawing/2014/main" id="{064974BD-9845-459A-9AAA-12731E2507C4}"/>
              </a:ext>
            </a:extLst>
          </p:cNvPr>
          <p:cNvSpPr>
            <a:spLocks noGrp="1"/>
          </p:cNvSpPr>
          <p:nvPr>
            <p:ph type="ftr" sz="quarter" idx="11"/>
          </p:nvPr>
        </p:nvSpPr>
        <p:spPr/>
        <p:txBody>
          <a:bodyPr rtlCol="0"/>
          <a:lstStyle/>
          <a:p>
            <a:pPr rtl="0"/>
            <a:endParaRPr lang="it-IT" noProof="0" dirty="0"/>
          </a:p>
        </p:txBody>
      </p:sp>
      <p:sp>
        <p:nvSpPr>
          <p:cNvPr id="6" name="Segnaposto numero diapositiva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rtlCol="0"/>
          <a:lstStyle/>
          <a:p>
            <a:pPr rtl="0"/>
            <a:r>
              <a:rPr lang="it-IT" noProof="0"/>
              <a:t>Fare clic per modificare lo stile del titolo dello schema</a:t>
            </a:r>
            <a:endParaRPr lang="it-IT" noProof="0" dirty="0"/>
          </a:p>
        </p:txBody>
      </p:sp>
      <p:sp>
        <p:nvSpPr>
          <p:cNvPr id="3" name="Segnaposto testo verticale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rtlCol="0"/>
          <a:lstStyle/>
          <a:p>
            <a:pPr lvl="0" rtl="0"/>
            <a:r>
              <a:rPr lang="it-IT" noProof="0"/>
              <a:t>Fare clic per modificare gli stili del testo dello schema</a:t>
            </a:r>
          </a:p>
          <a:p>
            <a:pPr lvl="1" rtl="0"/>
            <a:r>
              <a:rPr lang="it-IT" noProof="0"/>
              <a:t>Secondo livello</a:t>
            </a:r>
          </a:p>
          <a:p>
            <a:pPr lvl="2" rtl="0"/>
            <a:r>
              <a:rPr lang="it-IT" noProof="0"/>
              <a:t>Terzo livello</a:t>
            </a:r>
          </a:p>
          <a:p>
            <a:pPr lvl="3" rtl="0"/>
            <a:r>
              <a:rPr lang="it-IT" noProof="0"/>
              <a:t>Quarto livello</a:t>
            </a:r>
          </a:p>
          <a:p>
            <a:pPr lvl="4" rtl="0"/>
            <a:r>
              <a:rPr lang="it-IT" noProof="0"/>
              <a:t>Quinto livello</a:t>
            </a:r>
            <a:endParaRPr lang="it-IT" noProof="0" dirty="0"/>
          </a:p>
        </p:txBody>
      </p:sp>
      <p:sp>
        <p:nvSpPr>
          <p:cNvPr id="4" name="Segnaposto data 3">
            <a:extLst>
              <a:ext uri="{FF2B5EF4-FFF2-40B4-BE49-F238E27FC236}">
                <a16:creationId xmlns:a16="http://schemas.microsoft.com/office/drawing/2014/main" id="{00EEA9C5-552A-48A1-AB54-ED54209B3B48}"/>
              </a:ext>
            </a:extLst>
          </p:cNvPr>
          <p:cNvSpPr>
            <a:spLocks noGrp="1"/>
          </p:cNvSpPr>
          <p:nvPr>
            <p:ph type="dt" sz="half" idx="10"/>
          </p:nvPr>
        </p:nvSpPr>
        <p:spPr/>
        <p:txBody>
          <a:bodyPr rtlCol="0"/>
          <a:lstStyle/>
          <a:p>
            <a:pPr rtl="0"/>
            <a:fld id="{46FE6513-E3C7-4048-AC2F-41B0D1F6D895}" type="datetime1">
              <a:rPr lang="it-IT" noProof="0" smtClean="0"/>
              <a:t>23/02/2026</a:t>
            </a:fld>
            <a:endParaRPr lang="it-IT" noProof="0" dirty="0"/>
          </a:p>
        </p:txBody>
      </p:sp>
      <p:sp>
        <p:nvSpPr>
          <p:cNvPr id="5" name="Segnaposto piè di pagina 4">
            <a:extLst>
              <a:ext uri="{FF2B5EF4-FFF2-40B4-BE49-F238E27FC236}">
                <a16:creationId xmlns:a16="http://schemas.microsoft.com/office/drawing/2014/main" id="{1A83AAA3-4155-48FB-8F00-16DBE0C9C256}"/>
              </a:ext>
            </a:extLst>
          </p:cNvPr>
          <p:cNvSpPr>
            <a:spLocks noGrp="1"/>
          </p:cNvSpPr>
          <p:nvPr>
            <p:ph type="ftr" sz="quarter" idx="11"/>
          </p:nvPr>
        </p:nvSpPr>
        <p:spPr/>
        <p:txBody>
          <a:bodyPr rtlCol="0"/>
          <a:lstStyle/>
          <a:p>
            <a:pPr rtl="0"/>
            <a:endParaRPr lang="it-IT" noProof="0" dirty="0"/>
          </a:p>
        </p:txBody>
      </p:sp>
      <p:sp>
        <p:nvSpPr>
          <p:cNvPr id="6" name="Segnaposto numero diapositiva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rtlCol="0"/>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it-IT" noProof="0" dirty="0"/>
              <a:t>Fare clic per modificare lo stile del titolo dello schema</a:t>
            </a:r>
          </a:p>
        </p:txBody>
      </p:sp>
      <p:sp>
        <p:nvSpPr>
          <p:cNvPr id="3" name="Segnaposto testo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it-IT" noProof="0" dirty="0"/>
              <a:t>Modifica gli stili del testo dello schema</a:t>
            </a:r>
          </a:p>
          <a:p>
            <a:pPr lvl="1" rtl="0"/>
            <a:r>
              <a:rPr lang="it-IT" noProof="0" dirty="0"/>
              <a:t>Secondo livello</a:t>
            </a:r>
          </a:p>
          <a:p>
            <a:pPr lvl="2" rtl="0"/>
            <a:r>
              <a:rPr lang="it-IT" noProof="0" dirty="0"/>
              <a:t>Terzo livello</a:t>
            </a:r>
          </a:p>
          <a:p>
            <a:pPr lvl="3" rtl="0"/>
            <a:r>
              <a:rPr lang="it-IT" noProof="0" dirty="0"/>
              <a:t>Quarto livello</a:t>
            </a:r>
          </a:p>
          <a:p>
            <a:pPr lvl="4" rtl="0"/>
            <a:r>
              <a:rPr lang="it-IT" noProof="0" dirty="0"/>
              <a:t>Quinto livello</a:t>
            </a:r>
          </a:p>
        </p:txBody>
      </p:sp>
      <p:sp>
        <p:nvSpPr>
          <p:cNvPr id="4" name="Segnaposto data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750AD8DE-E201-43F1-B9CB-48547493CA6A}" type="datetime1">
              <a:rPr lang="it-IT" noProof="0" smtClean="0"/>
              <a:t>23/02/2026</a:t>
            </a:fld>
            <a:endParaRPr lang="it-IT" noProof="0" dirty="0"/>
          </a:p>
        </p:txBody>
      </p:sp>
      <p:sp>
        <p:nvSpPr>
          <p:cNvPr id="5" name="Segnaposto piè di pagina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it-IT" noProof="0" dirty="0"/>
          </a:p>
        </p:txBody>
      </p:sp>
      <p:sp>
        <p:nvSpPr>
          <p:cNvPr id="6" name="Segnaposto numero diapositiva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06FEDF93-2BFD-41CA-ABC7-B039102F3792}" type="slidenum">
              <a:rPr lang="it-IT" noProof="0" smtClean="0"/>
              <a:t>‹N›</a:t>
            </a:fld>
            <a:endParaRPr lang="it-IT" noProof="0"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300AEF-1595-4419-801B-6E36A33BB8CF}"/>
              </a:ext>
            </a:extLst>
          </p:cNvPr>
          <p:cNvSpPr>
            <a:spLocks noGrp="1"/>
          </p:cNvSpPr>
          <p:nvPr>
            <p:ph type="ctrTitle"/>
          </p:nvPr>
        </p:nvSpPr>
        <p:spPr>
          <a:xfrm>
            <a:off x="0" y="2930402"/>
            <a:ext cx="12192000" cy="443198"/>
          </a:xfrm>
        </p:spPr>
        <p:txBody>
          <a:bodyPr wrap="square" lIns="0" tIns="0" rIns="0" bIns="0" rtlCol="0" anchor="t">
            <a:spAutoFit/>
          </a:bodyPr>
          <a:lstStyle/>
          <a:p>
            <a:pPr rtl="0"/>
            <a:r>
              <a:rPr lang="it-IT" sz="3200" b="1" dirty="0" err="1">
                <a:solidFill>
                  <a:schemeClr val="bg1"/>
                </a:solidFill>
              </a:rPr>
              <a:t>AndroidMote</a:t>
            </a:r>
            <a:endParaRPr lang="it-IT" sz="3200" dirty="0">
              <a:solidFill>
                <a:schemeClr val="accent4"/>
              </a:solidFill>
            </a:endParaRPr>
          </a:p>
        </p:txBody>
      </p:sp>
      <p:grpSp>
        <p:nvGrpSpPr>
          <p:cNvPr id="7" name="Gruppo 6" descr="Icona di diagramma. ">
            <a:extLst>
              <a:ext uri="{FF2B5EF4-FFF2-40B4-BE49-F238E27FC236}">
                <a16:creationId xmlns:a16="http://schemas.microsoft.com/office/drawing/2014/main" id="{B95DF07A-CE7E-4D89-9AA0-25F4FFF3B9C7}"/>
              </a:ext>
            </a:extLst>
          </p:cNvPr>
          <p:cNvGrpSpPr/>
          <p:nvPr/>
        </p:nvGrpSpPr>
        <p:grpSpPr>
          <a:xfrm>
            <a:off x="5851021" y="2279334"/>
            <a:ext cx="489958" cy="492680"/>
            <a:chOff x="2025650" y="4786313"/>
            <a:chExt cx="285750" cy="287338"/>
          </a:xfrm>
          <a:solidFill>
            <a:schemeClr val="bg1"/>
          </a:solidFill>
        </p:grpSpPr>
        <p:sp>
          <p:nvSpPr>
            <p:cNvPr id="8" name="Figura a mano libera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it-IT" dirty="0"/>
            </a:p>
          </p:txBody>
        </p:sp>
        <p:sp>
          <p:nvSpPr>
            <p:cNvPr id="9" name="Figura a mano libera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it-IT" dirty="0"/>
            </a:p>
          </p:txBody>
        </p:sp>
      </p:grpSp>
      <p:sp>
        <p:nvSpPr>
          <p:cNvPr id="11" name="CasellaDiTesto 10">
            <a:extLst>
              <a:ext uri="{FF2B5EF4-FFF2-40B4-BE49-F238E27FC236}">
                <a16:creationId xmlns:a16="http://schemas.microsoft.com/office/drawing/2014/main" id="{CA304A53-B83A-06DD-C3FD-A3DDB1163B2E}"/>
              </a:ext>
            </a:extLst>
          </p:cNvPr>
          <p:cNvSpPr txBox="1"/>
          <p:nvPr/>
        </p:nvSpPr>
        <p:spPr>
          <a:xfrm>
            <a:off x="88041" y="5790753"/>
            <a:ext cx="6094562" cy="369332"/>
          </a:xfrm>
          <a:prstGeom prst="rect">
            <a:avLst/>
          </a:prstGeom>
          <a:noFill/>
        </p:spPr>
        <p:txBody>
          <a:bodyPr wrap="square">
            <a:spAutoFit/>
          </a:bodyPr>
          <a:lstStyle/>
          <a:p>
            <a:r>
              <a:rPr lang="it-IT" sz="1800" b="1" dirty="0">
                <a:solidFill>
                  <a:schemeClr val="bg1"/>
                </a:solidFill>
              </a:rPr>
              <a:t>Raffaele Carillo</a:t>
            </a:r>
            <a:endParaRPr lang="it-IT" dirty="0"/>
          </a:p>
        </p:txBody>
      </p:sp>
    </p:spTree>
    <p:extLst>
      <p:ext uri="{BB962C8B-B14F-4D97-AF65-F5344CB8AC3E}">
        <p14:creationId xmlns:p14="http://schemas.microsoft.com/office/powerpoint/2010/main" val="2387849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rtlCol="0"/>
          <a:lstStyle/>
          <a:p>
            <a:r>
              <a:rPr lang="it-IT" dirty="0"/>
              <a:t>Analisi progetto diapositiva 2</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Premessa</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CasellaDiTesto 1">
            <a:extLst>
              <a:ext uri="{FF2B5EF4-FFF2-40B4-BE49-F238E27FC236}">
                <a16:creationId xmlns:a16="http://schemas.microsoft.com/office/drawing/2014/main" id="{4AAE0E9A-FA8F-9C49-C74F-74D1A6656F41}"/>
              </a:ext>
            </a:extLst>
          </p:cNvPr>
          <p:cNvSpPr txBox="1"/>
          <p:nvPr/>
        </p:nvSpPr>
        <p:spPr>
          <a:xfrm>
            <a:off x="163902" y="862642"/>
            <a:ext cx="11734800" cy="3693319"/>
          </a:xfrm>
          <a:prstGeom prst="rect">
            <a:avLst/>
          </a:prstGeom>
          <a:noFill/>
        </p:spPr>
        <p:txBody>
          <a:bodyPr wrap="square" rtlCol="0">
            <a:spAutoFit/>
          </a:bodyPr>
          <a:lstStyle/>
          <a:p>
            <a:r>
              <a:rPr lang="en-US" dirty="0"/>
              <a:t>Wireless devices are a highly sought-after category of consumer electronics items today. Examples of such devices include wireless headphones and speakers, mice, keyboards, smartwatches, and various IoT devices.</a:t>
            </a:r>
          </a:p>
          <a:p>
            <a:r>
              <a:rPr lang="en-US" dirty="0"/>
              <a:t>
In addition to consumer electronics, the use of wireless technology is also of fundamental importance in areas in industrial environments where machinery must be controlled remotely and the use of cables can be problematic.</a:t>
            </a:r>
          </a:p>
          <a:p>
            <a:r>
              <a:rPr lang="en-US" dirty="0"/>
              <a:t>
The design of these devices has become of fundamental importance and takes on an increasingly important role thanks to the improvement of the processing capabilities of the devices combined with the reduction of consumption and the improvement of other technologies such as batteries.</a:t>
            </a:r>
          </a:p>
          <a:p>
            <a:r>
              <a:rPr lang="en-US" dirty="0"/>
              <a:t>
In this project, an early-prototype of a Bluetooth pointing device (IEEE 802.15.1) is developed by combining various technologies and tools. Some technical/economic considerations will also be made that led to the choice and use of certain components.</a:t>
            </a:r>
            <a:endParaRPr lang="it-IT" dirty="0"/>
          </a:p>
        </p:txBody>
      </p:sp>
    </p:spTree>
    <p:extLst>
      <p:ext uri="{BB962C8B-B14F-4D97-AF65-F5344CB8AC3E}">
        <p14:creationId xmlns:p14="http://schemas.microsoft.com/office/powerpoint/2010/main" val="3299715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rtlCol="0"/>
          <a:lstStyle/>
          <a:p>
            <a:r>
              <a:rPr lang="it-IT" dirty="0"/>
              <a:t>Analisi progetto diapositiva 2</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2769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000" b="1" dirty="0" err="1">
                <a:solidFill>
                  <a:schemeClr val="tx1">
                    <a:lumMod val="75000"/>
                    <a:lumOff val="25000"/>
                  </a:schemeClr>
                </a:solidFill>
              </a:rPr>
              <a:t>Initial</a:t>
            </a:r>
            <a:r>
              <a:rPr lang="it-IT" sz="2000" b="1" dirty="0">
                <a:solidFill>
                  <a:schemeClr val="tx1">
                    <a:lumMod val="75000"/>
                    <a:lumOff val="25000"/>
                  </a:schemeClr>
                </a:solidFill>
              </a:rPr>
              <a:t> idea and </a:t>
            </a:r>
            <a:r>
              <a:rPr lang="it-IT" sz="2000" b="1" dirty="0" err="1">
                <a:solidFill>
                  <a:schemeClr val="tx1">
                    <a:lumMod val="75000"/>
                    <a:lumOff val="25000"/>
                  </a:schemeClr>
                </a:solidFill>
              </a:rPr>
              <a:t>inspiration</a:t>
            </a:r>
            <a:endParaRPr lang="it-IT" sz="20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 name="CasellaDiTesto 2">
            <a:extLst>
              <a:ext uri="{FF2B5EF4-FFF2-40B4-BE49-F238E27FC236}">
                <a16:creationId xmlns:a16="http://schemas.microsoft.com/office/drawing/2014/main" id="{8A8B2BBE-37BE-A06C-88A3-EEDF5C306DAA}"/>
              </a:ext>
            </a:extLst>
          </p:cNvPr>
          <p:cNvSpPr txBox="1"/>
          <p:nvPr/>
        </p:nvSpPr>
        <p:spPr>
          <a:xfrm>
            <a:off x="94891" y="690113"/>
            <a:ext cx="12097109" cy="646331"/>
          </a:xfrm>
          <a:prstGeom prst="rect">
            <a:avLst/>
          </a:prstGeom>
          <a:noFill/>
        </p:spPr>
        <p:txBody>
          <a:bodyPr wrap="square" rtlCol="0">
            <a:spAutoFit/>
          </a:bodyPr>
          <a:lstStyle/>
          <a:p>
            <a:r>
              <a:rPr lang="en-US" dirty="0"/>
              <a:t>The initial idea was to attach the Wii console's remote control (known as </a:t>
            </a:r>
            <a:r>
              <a:rPr lang="en-US" dirty="0" err="1"/>
              <a:t>Wiimote</a:t>
            </a:r>
            <a:r>
              <a:rPr lang="en-US" dirty="0"/>
              <a:t>) and use its infrared-based readings to display a pointer on a display connected to the STM32 board. This initial idea had some positive and negative points.</a:t>
            </a:r>
            <a:endParaRPr lang="it-IT" dirty="0"/>
          </a:p>
        </p:txBody>
      </p:sp>
      <p:sp>
        <p:nvSpPr>
          <p:cNvPr id="9" name="Rettangolo: Angoli arrotondati 1">
            <a:extLst>
              <a:ext uri="{FF2B5EF4-FFF2-40B4-BE49-F238E27FC236}">
                <a16:creationId xmlns:a16="http://schemas.microsoft.com/office/drawing/2014/main" id="{2E9BE2A7-9DC2-ECBD-1210-46656E5613B3}"/>
              </a:ext>
            </a:extLst>
          </p:cNvPr>
          <p:cNvSpPr/>
          <p:nvPr/>
        </p:nvSpPr>
        <p:spPr>
          <a:xfrm>
            <a:off x="1031679" y="1836057"/>
            <a:ext cx="4967514" cy="66479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b="1" dirty="0">
                <a:latin typeface="+mj-lt"/>
              </a:rPr>
              <a:t>POSITIVE</a:t>
            </a:r>
          </a:p>
        </p:txBody>
      </p:sp>
      <p:sp>
        <p:nvSpPr>
          <p:cNvPr id="10" name="Rettangolo: Angoli arrotondati 25">
            <a:extLst>
              <a:ext uri="{FF2B5EF4-FFF2-40B4-BE49-F238E27FC236}">
                <a16:creationId xmlns:a16="http://schemas.microsoft.com/office/drawing/2014/main" id="{ADD219E6-7889-126F-818F-D0848480B46F}"/>
              </a:ext>
            </a:extLst>
          </p:cNvPr>
          <p:cNvSpPr/>
          <p:nvPr/>
        </p:nvSpPr>
        <p:spPr>
          <a:xfrm>
            <a:off x="6115309" y="1836057"/>
            <a:ext cx="4967514" cy="664797"/>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b="1" dirty="0">
                <a:latin typeface="+mj-lt"/>
              </a:rPr>
              <a:t>NEGATIVES</a:t>
            </a:r>
          </a:p>
        </p:txBody>
      </p:sp>
      <p:sp>
        <p:nvSpPr>
          <p:cNvPr id="17" name="Rettangolo 16">
            <a:extLst>
              <a:ext uri="{FF2B5EF4-FFF2-40B4-BE49-F238E27FC236}">
                <a16:creationId xmlns:a16="http://schemas.microsoft.com/office/drawing/2014/main" id="{7D766132-3B50-4C85-36A7-561276392A72}"/>
              </a:ext>
            </a:extLst>
          </p:cNvPr>
          <p:cNvSpPr/>
          <p:nvPr/>
        </p:nvSpPr>
        <p:spPr>
          <a:xfrm>
            <a:off x="1433992" y="3497554"/>
            <a:ext cx="4162870" cy="1446550"/>
          </a:xfrm>
          <a:prstGeom prst="rect">
            <a:avLst/>
          </a:prstGeom>
        </p:spPr>
        <p:txBody>
          <a:bodyPr wrap="square" lIns="0" tIns="0" rIns="0" bIns="0" rtlCol="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The </a:t>
            </a:r>
            <a:r>
              <a:rPr lang="en-US" sz="1400" dirty="0" err="1">
                <a:solidFill>
                  <a:schemeClr val="tx1">
                    <a:lumMod val="75000"/>
                    <a:lumOff val="25000"/>
                  </a:schemeClr>
                </a:solidFill>
                <a:cs typeface="Segoe UI" panose="020B0502040204020203" pitchFamily="34" charset="0"/>
              </a:rPr>
              <a:t>Wiimote</a:t>
            </a:r>
            <a:r>
              <a:rPr lang="en-US" sz="1400" dirty="0">
                <a:solidFill>
                  <a:schemeClr val="tx1">
                    <a:lumMod val="75000"/>
                    <a:lumOff val="25000"/>
                  </a:schemeClr>
                </a:solidFill>
                <a:cs typeface="Segoe UI" panose="020B0502040204020203" pitchFamily="34" charset="0"/>
              </a:rPr>
              <a:t>, being equipped with dedicated hardware, is able to offer remarkable pointer precision as well as low consumption.
The </a:t>
            </a:r>
            <a:r>
              <a:rPr lang="en-US" sz="1400" dirty="0" err="1">
                <a:solidFill>
                  <a:schemeClr val="tx1">
                    <a:lumMod val="75000"/>
                    <a:lumOff val="25000"/>
                  </a:schemeClr>
                </a:solidFill>
                <a:cs typeface="Segoe UI" panose="020B0502040204020203" pitchFamily="34" charset="0"/>
              </a:rPr>
              <a:t>Wiimote</a:t>
            </a:r>
            <a:r>
              <a:rPr lang="en-US" sz="1400" dirty="0">
                <a:solidFill>
                  <a:schemeClr val="tx1">
                    <a:lumMod val="75000"/>
                    <a:lumOff val="25000"/>
                  </a:schemeClr>
                </a:solidFill>
                <a:cs typeface="Segoe UI" panose="020B0502040204020203" pitchFamily="34" charset="0"/>
              </a:rPr>
              <a:t> is able to project a pointer also taking into account the perspective and does not require a perfectly frontal positioning of the user</a:t>
            </a:r>
            <a:endParaRPr lang="it-IT" sz="1400" dirty="0">
              <a:solidFill>
                <a:schemeClr val="tx1">
                  <a:lumMod val="75000"/>
                  <a:lumOff val="25000"/>
                </a:schemeClr>
              </a:solidFill>
              <a:cs typeface="Segoe UI" panose="020B0502040204020203" pitchFamily="34" charset="0"/>
            </a:endParaRPr>
          </a:p>
        </p:txBody>
      </p:sp>
      <p:sp>
        <p:nvSpPr>
          <p:cNvPr id="18" name="Rettangolo 17">
            <a:extLst>
              <a:ext uri="{FF2B5EF4-FFF2-40B4-BE49-F238E27FC236}">
                <a16:creationId xmlns:a16="http://schemas.microsoft.com/office/drawing/2014/main" id="{9933B92E-CC00-EA40-8378-678AC4C47845}"/>
              </a:ext>
            </a:extLst>
          </p:cNvPr>
          <p:cNvSpPr/>
          <p:nvPr/>
        </p:nvSpPr>
        <p:spPr>
          <a:xfrm>
            <a:off x="6517631" y="3489779"/>
            <a:ext cx="4162870" cy="1661993"/>
          </a:xfrm>
          <a:prstGeom prst="rect">
            <a:avLst/>
          </a:prstGeom>
        </p:spPr>
        <p:txBody>
          <a:bodyPr wrap="square" lIns="0" tIns="0" rIns="0" bIns="0" rtlCol="0" anchor="t">
            <a:spAutoFit/>
          </a:bodyPr>
          <a:lstStyle/>
          <a:p>
            <a:pPr marL="171450" indent="-171450">
              <a:spcBef>
                <a:spcPts val="1200"/>
              </a:spcBef>
              <a:buClr>
                <a:schemeClr val="tx2"/>
              </a:buClr>
              <a:buFont typeface="Segoe UI Light" panose="020B0502040204020203" pitchFamily="34" charset="0"/>
              <a:buChar char="›"/>
            </a:pPr>
            <a:r>
              <a:rPr lang="en-US" sz="1400" dirty="0">
                <a:solidFill>
                  <a:schemeClr val="tx1">
                    <a:lumMod val="75000"/>
                    <a:lumOff val="25000"/>
                  </a:schemeClr>
                </a:solidFill>
                <a:cs typeface="Segoe UI" panose="020B0502040204020203" pitchFamily="34" charset="0"/>
              </a:rPr>
              <a:t>The use of this profile of the Bluetooth standard involves the use of complex drivers in conjunction with the use of operating systems such as </a:t>
            </a:r>
            <a:r>
              <a:rPr lang="en-US" sz="1400" dirty="0" err="1">
                <a:solidFill>
                  <a:schemeClr val="tx1">
                    <a:lumMod val="75000"/>
                    <a:lumOff val="25000"/>
                  </a:schemeClr>
                </a:solidFill>
                <a:cs typeface="Segoe UI" panose="020B0502040204020203" pitchFamily="34" charset="0"/>
              </a:rPr>
              <a:t>FreeRTOS</a:t>
            </a:r>
            <a:r>
              <a:rPr lang="en-US" sz="1400" dirty="0">
                <a:solidFill>
                  <a:schemeClr val="tx1">
                    <a:lumMod val="75000"/>
                    <a:lumOff val="25000"/>
                  </a:schemeClr>
                </a:solidFill>
                <a:cs typeface="Segoe UI" panose="020B0502040204020203" pitchFamily="34" charset="0"/>
              </a:rPr>
              <a:t>.
Bluetooth cards that support the HID profile are very expensive on the market. Adapters that are compatible with your budget and hardware support serial profile only.</a:t>
            </a:r>
            <a:endParaRPr lang="it-IT" sz="1400" dirty="0">
              <a:solidFill>
                <a:schemeClr val="tx1">
                  <a:lumMod val="75000"/>
                  <a:lumOff val="25000"/>
                </a:schemeClr>
              </a:solidFill>
              <a:cs typeface="Segoe UI" panose="020B0502040204020203" pitchFamily="34" charset="0"/>
            </a:endParaRPr>
          </a:p>
        </p:txBody>
      </p:sp>
      <p:sp>
        <p:nvSpPr>
          <p:cNvPr id="21" name="Rettangolo 20">
            <a:extLst>
              <a:ext uri="{FF2B5EF4-FFF2-40B4-BE49-F238E27FC236}">
                <a16:creationId xmlns:a16="http://schemas.microsoft.com/office/drawing/2014/main" id="{5DD1E475-6D19-2560-200A-194A241B603A}"/>
              </a:ext>
            </a:extLst>
          </p:cNvPr>
          <p:cNvSpPr/>
          <p:nvPr/>
        </p:nvSpPr>
        <p:spPr>
          <a:xfrm>
            <a:off x="1433992" y="2686667"/>
            <a:ext cx="4162870" cy="246221"/>
          </a:xfrm>
          <a:prstGeom prst="rect">
            <a:avLst/>
          </a:prstGeom>
        </p:spPr>
        <p:txBody>
          <a:bodyPr wrap="square" lIns="0" tIns="0" rIns="0" bIns="0" rtlCol="0" anchor="t">
            <a:spAutoFit/>
          </a:bodyPr>
          <a:lstStyle/>
          <a:p>
            <a:r>
              <a:rPr lang="it-IT" sz="1600" b="1" dirty="0">
                <a:solidFill>
                  <a:schemeClr val="tx1">
                    <a:lumMod val="75000"/>
                    <a:lumOff val="25000"/>
                  </a:schemeClr>
                </a:solidFill>
                <a:cs typeface="Segoe UI" panose="020B0502040204020203" pitchFamily="34" charset="0"/>
              </a:rPr>
              <a:t>Precision, </a:t>
            </a:r>
            <a:r>
              <a:rPr lang="it-IT" sz="1600" b="1" dirty="0" err="1">
                <a:solidFill>
                  <a:schemeClr val="tx1">
                    <a:lumMod val="75000"/>
                    <a:lumOff val="25000"/>
                  </a:schemeClr>
                </a:solidFill>
                <a:cs typeface="Segoe UI" panose="020B0502040204020203" pitchFamily="34" charset="0"/>
              </a:rPr>
              <a:t>quality</a:t>
            </a:r>
            <a:r>
              <a:rPr lang="it-IT" sz="1600" b="1" dirty="0">
                <a:solidFill>
                  <a:schemeClr val="tx1">
                    <a:lumMod val="75000"/>
                    <a:lumOff val="25000"/>
                  </a:schemeClr>
                </a:solidFill>
                <a:cs typeface="Segoe UI" panose="020B0502040204020203" pitchFamily="34" charset="0"/>
              </a:rPr>
              <a:t> and performance</a:t>
            </a:r>
          </a:p>
        </p:txBody>
      </p:sp>
      <p:sp>
        <p:nvSpPr>
          <p:cNvPr id="22" name="Rettangolo 21">
            <a:extLst>
              <a:ext uri="{FF2B5EF4-FFF2-40B4-BE49-F238E27FC236}">
                <a16:creationId xmlns:a16="http://schemas.microsoft.com/office/drawing/2014/main" id="{BE4D0D8E-8021-5A27-A06A-9844F4F4E979}"/>
              </a:ext>
            </a:extLst>
          </p:cNvPr>
          <p:cNvSpPr/>
          <p:nvPr/>
        </p:nvSpPr>
        <p:spPr>
          <a:xfrm>
            <a:off x="6517632" y="2686667"/>
            <a:ext cx="4162870" cy="492443"/>
          </a:xfrm>
          <a:prstGeom prst="rect">
            <a:avLst/>
          </a:prstGeom>
        </p:spPr>
        <p:txBody>
          <a:bodyPr wrap="square" lIns="0" tIns="0" rIns="0" bIns="0" rtlCol="0" anchor="t">
            <a:spAutoFit/>
          </a:bodyPr>
          <a:lstStyle/>
          <a:p>
            <a:r>
              <a:rPr lang="en-US" sz="1600" b="1" dirty="0">
                <a:solidFill>
                  <a:schemeClr val="tx1">
                    <a:lumMod val="75000"/>
                    <a:lumOff val="25000"/>
                  </a:schemeClr>
                </a:solidFill>
                <a:cs typeface="Segoe UI" panose="020B0502040204020203" pitchFamily="34" charset="0"/>
              </a:rPr>
              <a:t>Bluetooth Standard Human Interface Device (HID) Profile</a:t>
            </a:r>
            <a:endParaRPr lang="it-IT" sz="1600" b="1" dirty="0">
              <a:solidFill>
                <a:schemeClr val="tx1">
                  <a:lumMod val="75000"/>
                  <a:lumOff val="25000"/>
                </a:schemeClr>
              </a:solidFill>
              <a:cs typeface="Segoe UI" panose="020B0502040204020203" pitchFamily="34" charset="0"/>
            </a:endParaRPr>
          </a:p>
        </p:txBody>
      </p:sp>
      <p:pic>
        <p:nvPicPr>
          <p:cNvPr id="1026" name="Picture 2" descr="Nintendo Wii U - Wii Remote Plus (Telecomando Plus), Nero : Amazon.it:  Videogiochi">
            <a:extLst>
              <a:ext uri="{FF2B5EF4-FFF2-40B4-BE49-F238E27FC236}">
                <a16:creationId xmlns:a16="http://schemas.microsoft.com/office/drawing/2014/main" id="{8319F1DB-30FF-A724-C00F-B3BE5C9EA9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7200" y="5292955"/>
            <a:ext cx="1084074" cy="13567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icrosoft Apps">
            <a:extLst>
              <a:ext uri="{FF2B5EF4-FFF2-40B4-BE49-F238E27FC236}">
                <a16:creationId xmlns:a16="http://schemas.microsoft.com/office/drawing/2014/main" id="{D5AB1188-EE72-1223-896D-76C5E6FF6D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489" y="5537568"/>
            <a:ext cx="1792932" cy="86754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2A7D182-6665-8BD8-39AC-0508CA5F699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5633" y="5371806"/>
            <a:ext cx="791332" cy="1199072"/>
          </a:xfrm>
          <a:prstGeom prst="rect">
            <a:avLst/>
          </a:prstGeom>
          <a:noFill/>
          <a:extLst>
            <a:ext uri="{909E8E84-426E-40DD-AFC4-6F175D3DCCD1}">
              <a14:hiddenFill xmlns:a14="http://schemas.microsoft.com/office/drawing/2010/main">
                <a:solidFill>
                  <a:srgbClr val="FFFFFF"/>
                </a:solidFill>
              </a14:hiddenFill>
            </a:ext>
          </a:extLst>
        </p:spPr>
      </p:pic>
      <p:sp>
        <p:nvSpPr>
          <p:cNvPr id="5" name="Freccia a destra 4">
            <a:extLst>
              <a:ext uri="{FF2B5EF4-FFF2-40B4-BE49-F238E27FC236}">
                <a16:creationId xmlns:a16="http://schemas.microsoft.com/office/drawing/2014/main" id="{5FB3D4DC-707B-BD07-253F-7DC7BC92C6A1}"/>
              </a:ext>
            </a:extLst>
          </p:cNvPr>
          <p:cNvSpPr/>
          <p:nvPr/>
        </p:nvSpPr>
        <p:spPr>
          <a:xfrm>
            <a:off x="2708554" y="5820956"/>
            <a:ext cx="1792932" cy="300772"/>
          </a:xfrm>
          <a:prstGeom prst="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 name="Segno di moltiplicazione 5">
            <a:extLst>
              <a:ext uri="{FF2B5EF4-FFF2-40B4-BE49-F238E27FC236}">
                <a16:creationId xmlns:a16="http://schemas.microsoft.com/office/drawing/2014/main" id="{5FFEBF83-0048-3FE4-CA8B-05E51DEA6004}"/>
              </a:ext>
            </a:extLst>
          </p:cNvPr>
          <p:cNvSpPr/>
          <p:nvPr/>
        </p:nvSpPr>
        <p:spPr>
          <a:xfrm>
            <a:off x="3180601" y="5537568"/>
            <a:ext cx="848838" cy="867548"/>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667151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rtlCol="0"/>
          <a:lstStyle/>
          <a:p>
            <a:r>
              <a:rPr lang="it-IT" dirty="0"/>
              <a:t>Analisi progetto diapositiva 2</a:t>
            </a:r>
          </a:p>
        </p:txBody>
      </p:sp>
      <p:sp>
        <p:nvSpPr>
          <p:cNvPr id="3" name="CasellaDiTesto 2">
            <a:extLst>
              <a:ext uri="{FF2B5EF4-FFF2-40B4-BE49-F238E27FC236}">
                <a16:creationId xmlns:a16="http://schemas.microsoft.com/office/drawing/2014/main" id="{8A8B2BBE-37BE-A06C-88A3-EEDF5C306DAA}"/>
              </a:ext>
            </a:extLst>
          </p:cNvPr>
          <p:cNvSpPr txBox="1"/>
          <p:nvPr/>
        </p:nvSpPr>
        <p:spPr>
          <a:xfrm>
            <a:off x="47445" y="2844225"/>
            <a:ext cx="12097109" cy="800219"/>
          </a:xfrm>
          <a:prstGeom prst="rect">
            <a:avLst/>
          </a:prstGeom>
          <a:noFill/>
        </p:spPr>
        <p:txBody>
          <a:bodyPr wrap="square" rtlCol="0">
            <a:spAutoFit/>
          </a:bodyPr>
          <a:lstStyle/>
          <a:p>
            <a:pPr algn="ctr"/>
            <a:r>
              <a:rPr lang="it-IT" sz="3200" b="1" dirty="0">
                <a:solidFill>
                  <a:schemeClr val="accent4"/>
                </a:solidFill>
                <a:latin typeface="+mj-lt"/>
              </a:rPr>
              <a:t>Solution: </a:t>
            </a:r>
            <a:r>
              <a:rPr lang="it-IT" sz="3200" b="1" dirty="0" err="1">
                <a:solidFill>
                  <a:schemeClr val="accent4"/>
                </a:solidFill>
                <a:latin typeface="+mj-lt"/>
              </a:rPr>
              <a:t>Recreate</a:t>
            </a:r>
            <a:r>
              <a:rPr lang="it-IT" sz="3200" b="1" dirty="0">
                <a:solidFill>
                  <a:schemeClr val="accent4"/>
                </a:solidFill>
                <a:latin typeface="+mj-lt"/>
              </a:rPr>
              <a:t> the </a:t>
            </a:r>
            <a:r>
              <a:rPr lang="it-IT" sz="3200" b="1" dirty="0" err="1">
                <a:solidFill>
                  <a:schemeClr val="accent4"/>
                </a:solidFill>
                <a:latin typeface="+mj-lt"/>
              </a:rPr>
              <a:t>Wiimote</a:t>
            </a:r>
            <a:endParaRPr lang="it-IT" sz="3200" b="1" dirty="0">
              <a:solidFill>
                <a:schemeClr val="accent4"/>
              </a:solidFill>
              <a:latin typeface="+mj-lt"/>
            </a:endParaRPr>
          </a:p>
          <a:p>
            <a:pPr algn="ctr"/>
            <a:r>
              <a:rPr lang="it-IT" sz="1400" b="1" dirty="0">
                <a:solidFill>
                  <a:schemeClr val="accent4"/>
                </a:solidFill>
                <a:latin typeface="+mj-lt"/>
              </a:rPr>
              <a:t>(in part...)</a:t>
            </a:r>
            <a:endParaRPr lang="it-IT" sz="1400" dirty="0">
              <a:solidFill>
                <a:schemeClr val="accent4"/>
              </a:solidFill>
              <a:latin typeface="+mj-lt"/>
            </a:endParaRPr>
          </a:p>
        </p:txBody>
      </p:sp>
    </p:spTree>
    <p:extLst>
      <p:ext uri="{BB962C8B-B14F-4D97-AF65-F5344CB8AC3E}">
        <p14:creationId xmlns:p14="http://schemas.microsoft.com/office/powerpoint/2010/main" val="3846823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How it works</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050" name="Picture 2" descr="The sensor of the Wii remote. | Download Scientific Diagram">
            <a:extLst>
              <a:ext uri="{FF2B5EF4-FFF2-40B4-BE49-F238E27FC236}">
                <a16:creationId xmlns:a16="http://schemas.microsoft.com/office/drawing/2014/main" id="{F559AE84-FABF-D940-8B79-B9A2ED71D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498" y="1809750"/>
            <a:ext cx="2638425" cy="1619250"/>
          </a:xfrm>
          <a:prstGeom prst="rect">
            <a:avLst/>
          </a:prstGeom>
          <a:noFill/>
          <a:extLst>
            <a:ext uri="{909E8E84-426E-40DD-AFC4-6F175D3DCCD1}">
              <a14:hiddenFill xmlns:a14="http://schemas.microsoft.com/office/drawing/2010/main">
                <a:solidFill>
                  <a:srgbClr val="FFFFFF"/>
                </a:solidFill>
              </a14:hiddenFill>
            </a:ext>
          </a:extLst>
        </p:spPr>
      </p:pic>
      <p:sp>
        <p:nvSpPr>
          <p:cNvPr id="39" name="Rettangolo 38">
            <a:extLst>
              <a:ext uri="{FF2B5EF4-FFF2-40B4-BE49-F238E27FC236}">
                <a16:creationId xmlns:a16="http://schemas.microsoft.com/office/drawing/2014/main" id="{3672B12A-D792-5FF5-0F10-36601F354132}"/>
              </a:ext>
            </a:extLst>
          </p:cNvPr>
          <p:cNvSpPr/>
          <p:nvPr/>
        </p:nvSpPr>
        <p:spPr>
          <a:xfrm>
            <a:off x="3300820" y="966097"/>
            <a:ext cx="8155059" cy="3231654"/>
          </a:xfrm>
          <a:prstGeom prst="rect">
            <a:avLst/>
          </a:prstGeom>
        </p:spPr>
        <p:txBody>
          <a:bodyPr wrap="square" lIns="0" tIns="0" rIns="0" bIns="0" rtlCol="0" anchor="t">
            <a:spAutoFit/>
          </a:bodyPr>
          <a:lstStyle/>
          <a:p>
            <a:pPr>
              <a:spcBef>
                <a:spcPts val="1200"/>
              </a:spcBef>
              <a:buClr>
                <a:schemeClr val="tx2"/>
              </a:buClr>
            </a:pPr>
            <a:r>
              <a:rPr lang="en-US" sz="1400" dirty="0">
                <a:solidFill>
                  <a:schemeClr val="tx1">
                    <a:lumMod val="75000"/>
                    <a:lumOff val="25000"/>
                  </a:schemeClr>
                </a:solidFill>
                <a:cs typeface="Segoe UI" panose="020B0502040204020203" pitchFamily="34" charset="0"/>
              </a:rPr>
              <a:t>The </a:t>
            </a:r>
            <a:r>
              <a:rPr lang="en-US" sz="1400" dirty="0" err="1">
                <a:solidFill>
                  <a:schemeClr val="tx1">
                    <a:lumMod val="75000"/>
                    <a:lumOff val="25000"/>
                  </a:schemeClr>
                </a:solidFill>
                <a:cs typeface="Segoe UI" panose="020B0502040204020203" pitchFamily="34" charset="0"/>
              </a:rPr>
              <a:t>Wiimote</a:t>
            </a:r>
            <a:r>
              <a:rPr lang="en-US" sz="1400" dirty="0">
                <a:solidFill>
                  <a:schemeClr val="tx1">
                    <a:lumMod val="75000"/>
                    <a:lumOff val="25000"/>
                  </a:schemeClr>
                </a:solidFill>
                <a:cs typeface="Segoe UI" panose="020B0502040204020203" pitchFamily="34" charset="0"/>
              </a:rPr>
              <a:t> is equipped with a suite of sensors and devices including:
A low-resolution monochrome camera (128x96) placed behind an infrared filter attached to the remote control housing.
A three-dimensional accelerometer.
A speaker.
A vibration motor.
Some buttons for gaming functions.
Bluetooth connectivity (IEEE 802.15.1).
In addition, there is an Image Signal Processor (ISP) that uses camera detections to derive the position of the pointer.</a:t>
            </a:r>
            <a:endParaRPr lang="it-IT" sz="1400" dirty="0">
              <a:solidFill>
                <a:schemeClr val="tx1">
                  <a:lumMod val="75000"/>
                  <a:lumOff val="25000"/>
                </a:schemeClr>
              </a:solidFill>
              <a:cs typeface="Segoe UI" panose="020B0502040204020203" pitchFamily="34" charset="0"/>
            </a:endParaRPr>
          </a:p>
        </p:txBody>
      </p:sp>
      <p:pic>
        <p:nvPicPr>
          <p:cNvPr id="2052" name="Picture 4">
            <a:extLst>
              <a:ext uri="{FF2B5EF4-FFF2-40B4-BE49-F238E27FC236}">
                <a16:creationId xmlns:a16="http://schemas.microsoft.com/office/drawing/2014/main" id="{1D88FC13-38E4-8206-6C86-43F23B862C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flipV="1">
            <a:off x="7123981" y="4595244"/>
            <a:ext cx="4839419" cy="837446"/>
          </a:xfrm>
          <a:prstGeom prst="rect">
            <a:avLst/>
          </a:prstGeom>
          <a:noFill/>
          <a:extLst>
            <a:ext uri="{909E8E84-426E-40DD-AFC4-6F175D3DCCD1}">
              <a14:hiddenFill xmlns:a14="http://schemas.microsoft.com/office/drawing/2010/main">
                <a:solidFill>
                  <a:srgbClr val="FFFFFF"/>
                </a:solidFill>
              </a14:hiddenFill>
            </a:ext>
          </a:extLst>
        </p:spPr>
      </p:pic>
      <p:sp>
        <p:nvSpPr>
          <p:cNvPr id="41" name="Rettangolo 40">
            <a:extLst>
              <a:ext uri="{FF2B5EF4-FFF2-40B4-BE49-F238E27FC236}">
                <a16:creationId xmlns:a16="http://schemas.microsoft.com/office/drawing/2014/main" id="{6081DB9D-8071-9A69-318D-8E942FDD0DFD}"/>
              </a:ext>
            </a:extLst>
          </p:cNvPr>
          <p:cNvSpPr/>
          <p:nvPr/>
        </p:nvSpPr>
        <p:spPr>
          <a:xfrm>
            <a:off x="325558" y="4687409"/>
            <a:ext cx="6566948" cy="646331"/>
          </a:xfrm>
          <a:prstGeom prst="rect">
            <a:avLst/>
          </a:prstGeom>
        </p:spPr>
        <p:txBody>
          <a:bodyPr wrap="square" lIns="0" tIns="0" rIns="0" bIns="0" rtlCol="0" anchor="t">
            <a:spAutoFit/>
          </a:bodyPr>
          <a:lstStyle/>
          <a:p>
            <a:pPr>
              <a:spcBef>
                <a:spcPts val="1200"/>
              </a:spcBef>
              <a:buClr>
                <a:schemeClr val="tx2"/>
              </a:buClr>
            </a:pPr>
            <a:r>
              <a:rPr lang="en-US" sz="1400" dirty="0">
                <a:solidFill>
                  <a:schemeClr val="tx1">
                    <a:lumMod val="75000"/>
                    <a:lumOff val="25000"/>
                  </a:schemeClr>
                </a:solidFill>
                <a:cs typeface="Segoe UI" panose="020B0502040204020203" pitchFamily="34" charset="0"/>
              </a:rPr>
              <a:t>The console also comes with a "sensor bar" to be placed below or above the screen. Despite the name, it does not include any sensor but only 940 nm infrared LEDs placed at the end that serve as a reference for the </a:t>
            </a:r>
            <a:r>
              <a:rPr lang="en-US" sz="1400" dirty="0" err="1">
                <a:solidFill>
                  <a:schemeClr val="tx1">
                    <a:lumMod val="75000"/>
                    <a:lumOff val="25000"/>
                  </a:schemeClr>
                </a:solidFill>
                <a:cs typeface="Segoe UI" panose="020B0502040204020203" pitchFamily="34" charset="0"/>
              </a:rPr>
              <a:t>Wiimote</a:t>
            </a:r>
            <a:r>
              <a:rPr lang="en-US" sz="1400" dirty="0">
                <a:solidFill>
                  <a:schemeClr val="tx1">
                    <a:lumMod val="75000"/>
                    <a:lumOff val="25000"/>
                  </a:schemeClr>
                </a:solidFill>
                <a:cs typeface="Segoe UI" panose="020B0502040204020203" pitchFamily="34" charset="0"/>
              </a:rPr>
              <a:t>.</a:t>
            </a:r>
            <a:endParaRPr lang="it-IT" sz="1400" dirty="0">
              <a:solidFill>
                <a:schemeClr val="tx1">
                  <a:lumMod val="75000"/>
                  <a:lumOff val="25000"/>
                </a:schemeClr>
              </a:solidFill>
              <a:cs typeface="Segoe UI" panose="020B0502040204020203" pitchFamily="34" charset="0"/>
            </a:endParaRPr>
          </a:p>
        </p:txBody>
      </p:sp>
    </p:spTree>
    <p:extLst>
      <p:ext uri="{BB962C8B-B14F-4D97-AF65-F5344CB8AC3E}">
        <p14:creationId xmlns:p14="http://schemas.microsoft.com/office/powerpoint/2010/main" val="822569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Hardware </a:t>
            </a:r>
            <a:r>
              <a:rPr lang="it-IT" sz="2800" b="1" dirty="0" err="1">
                <a:solidFill>
                  <a:schemeClr val="tx1">
                    <a:lumMod val="75000"/>
                    <a:lumOff val="25000"/>
                  </a:schemeClr>
                </a:solidFill>
              </a:rPr>
              <a:t>used</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074" name="Picture 2" descr="Xiaomi Mi 9T Pro Smartphone da 6.39&quot; FHD+, Snapdragon 855, Tripla  Fotocamera post.13 + 48 + 8MP, Fotocamera ant. Pop up selfie da 20MP, 4000  mAh, con NFC, 6GB RAM+128GB ROM, Nero : Amazon.it: Elettronica">
            <a:extLst>
              <a:ext uri="{FF2B5EF4-FFF2-40B4-BE49-F238E27FC236}">
                <a16:creationId xmlns:a16="http://schemas.microsoft.com/office/drawing/2014/main" id="{A7E63834-3811-363B-56AC-BB381D13EF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461" y="922967"/>
            <a:ext cx="1955320" cy="2419951"/>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a:extLst>
              <a:ext uri="{FF2B5EF4-FFF2-40B4-BE49-F238E27FC236}">
                <a16:creationId xmlns:a16="http://schemas.microsoft.com/office/drawing/2014/main" id="{DA1617DA-F6A0-DFE2-7351-A512892E6F0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77402" y="3480796"/>
            <a:ext cx="2034290" cy="3082474"/>
          </a:xfrm>
          <a:prstGeom prst="rect">
            <a:avLst/>
          </a:prstGeom>
          <a:noFill/>
          <a:extLst>
            <a:ext uri="{909E8E84-426E-40DD-AFC4-6F175D3DCCD1}">
              <a14:hiddenFill xmlns:a14="http://schemas.microsoft.com/office/drawing/2010/main">
                <a:solidFill>
                  <a:srgbClr val="FFFFFF"/>
                </a:solidFill>
              </a14:hiddenFill>
            </a:ext>
          </a:extLst>
        </p:spPr>
      </p:pic>
      <p:sp>
        <p:nvSpPr>
          <p:cNvPr id="10" name="Rettangolo 9">
            <a:extLst>
              <a:ext uri="{FF2B5EF4-FFF2-40B4-BE49-F238E27FC236}">
                <a16:creationId xmlns:a16="http://schemas.microsoft.com/office/drawing/2014/main" id="{B171C122-6DE3-9926-B23F-3BD42FE8C636}"/>
              </a:ext>
            </a:extLst>
          </p:cNvPr>
          <p:cNvSpPr/>
          <p:nvPr/>
        </p:nvSpPr>
        <p:spPr>
          <a:xfrm>
            <a:off x="3300820" y="966097"/>
            <a:ext cx="8155059" cy="1815882"/>
          </a:xfrm>
          <a:prstGeom prst="rect">
            <a:avLst/>
          </a:prstGeom>
        </p:spPr>
        <p:txBody>
          <a:bodyPr wrap="square" lIns="0" tIns="0" rIns="0" bIns="0" rtlCol="0" anchor="t">
            <a:spAutoFit/>
          </a:bodyPr>
          <a:lstStyle/>
          <a:p>
            <a:pPr>
              <a:spcBef>
                <a:spcPts val="1200"/>
              </a:spcBef>
              <a:buClr>
                <a:schemeClr val="tx2"/>
              </a:buClr>
            </a:pPr>
            <a:r>
              <a:rPr lang="en-US" dirty="0">
                <a:solidFill>
                  <a:schemeClr val="tx1">
                    <a:lumMod val="75000"/>
                    <a:lumOff val="25000"/>
                  </a:schemeClr>
                </a:solidFill>
                <a:cs typeface="Segoe UI" panose="020B0502040204020203" pitchFamily="34" charset="0"/>
              </a:rPr>
              <a:t>Most smartphones on the market have cameras capable of capturing the light of 940nm IR LEDs, thanks to Bluetooth connectivity and image processing capacity it is possible to use a smartphone as a pointing device.</a:t>
            </a:r>
          </a:p>
          <a:p>
            <a:pPr>
              <a:spcBef>
                <a:spcPts val="1200"/>
              </a:spcBef>
              <a:buClr>
                <a:schemeClr val="tx2"/>
              </a:buClr>
            </a:pPr>
            <a:r>
              <a:rPr lang="en-US" dirty="0">
                <a:solidFill>
                  <a:schemeClr val="tx1">
                    <a:lumMod val="75000"/>
                    <a:lumOff val="25000"/>
                  </a:schemeClr>
                </a:solidFill>
                <a:cs typeface="Segoe UI" panose="020B0502040204020203" pitchFamily="34" charset="0"/>
              </a:rPr>
              <a:t>In particular, an Android application has been created that uses the open source tool OpenCV to identify the bright areas captured by the camera. The position of the bright spots is used to send the pointer coordinates via Bluetooth.</a:t>
            </a:r>
            <a:endParaRPr lang="it-IT" dirty="0">
              <a:solidFill>
                <a:schemeClr val="tx1">
                  <a:lumMod val="75000"/>
                  <a:lumOff val="25000"/>
                </a:schemeClr>
              </a:solidFill>
              <a:cs typeface="Segoe UI" panose="020B0502040204020203" pitchFamily="34" charset="0"/>
            </a:endParaRPr>
          </a:p>
        </p:txBody>
      </p:sp>
      <p:sp>
        <p:nvSpPr>
          <p:cNvPr id="2" name="CasellaDiTesto 1">
            <a:extLst>
              <a:ext uri="{FF2B5EF4-FFF2-40B4-BE49-F238E27FC236}">
                <a16:creationId xmlns:a16="http://schemas.microsoft.com/office/drawing/2014/main" id="{952C0F73-22E7-7D52-A055-905F206F711B}"/>
              </a:ext>
            </a:extLst>
          </p:cNvPr>
          <p:cNvSpPr txBox="1"/>
          <p:nvPr/>
        </p:nvSpPr>
        <p:spPr>
          <a:xfrm>
            <a:off x="228600" y="3916392"/>
            <a:ext cx="9010291" cy="2646878"/>
          </a:xfrm>
          <a:prstGeom prst="rect">
            <a:avLst/>
          </a:prstGeom>
          <a:noFill/>
        </p:spPr>
        <p:txBody>
          <a:bodyPr wrap="square" rtlCol="0">
            <a:spAutoFit/>
          </a:bodyPr>
          <a:lstStyle/>
          <a:p>
            <a:r>
              <a:rPr lang="en-US" dirty="0"/>
              <a:t>The STM32F3DISCOVERY board is a development board that allows the creation of embedded systems in a simple and fast way. This board is equipped with</a:t>
            </a:r>
            <a:r>
              <a:rPr lang="it-IT" dirty="0"/>
              <a:t>:</a:t>
            </a:r>
          </a:p>
          <a:p>
            <a:pPr marL="171450" indent="-171450">
              <a:spcBef>
                <a:spcPts val="1200"/>
              </a:spcBef>
              <a:buClr>
                <a:schemeClr val="tx2"/>
              </a:buClr>
              <a:buFont typeface="Segoe UI Light" panose="020B0502040204020203" pitchFamily="34" charset="0"/>
              <a:buChar char="›"/>
            </a:pPr>
            <a:r>
              <a:rPr lang="en-US" dirty="0">
                <a:solidFill>
                  <a:schemeClr val="tx1">
                    <a:lumMod val="75000"/>
                    <a:lumOff val="25000"/>
                  </a:schemeClr>
                </a:solidFill>
                <a:cs typeface="Segoe UI" panose="020B0502040204020203" pitchFamily="34" charset="0"/>
              </a:rPr>
              <a:t>ARM Cortex-M4 @72 </a:t>
            </a:r>
            <a:r>
              <a:rPr lang="en-US" dirty="0" err="1">
                <a:solidFill>
                  <a:schemeClr val="tx1">
                    <a:lumMod val="75000"/>
                    <a:lumOff val="25000"/>
                  </a:schemeClr>
                </a:solidFill>
                <a:cs typeface="Segoe UI" panose="020B0502040204020203" pitchFamily="34" charset="0"/>
              </a:rPr>
              <a:t>Mhz</a:t>
            </a:r>
            <a:r>
              <a:rPr lang="en-US" dirty="0">
                <a:solidFill>
                  <a:schemeClr val="tx1">
                    <a:lumMod val="75000"/>
                    <a:lumOff val="25000"/>
                  </a:schemeClr>
                </a:solidFill>
                <a:cs typeface="Segoe UI" panose="020B0502040204020203" pitchFamily="34" charset="0"/>
              </a:rPr>
              <a:t>-based STM32F303VCT6 MCU with 256 KB of flash memory and 48 KB of RAM</a:t>
            </a:r>
            <a:r>
              <a:rPr lang="it-IT" sz="1800" dirty="0">
                <a:solidFill>
                  <a:schemeClr val="tx1">
                    <a:lumMod val="75000"/>
                    <a:lumOff val="25000"/>
                  </a:schemeClr>
                </a:solidFill>
                <a:cs typeface="Segoe UI" panose="020B0502040204020203" pitchFamily="34" charset="0"/>
              </a:rPr>
              <a:t>.</a:t>
            </a:r>
          </a:p>
          <a:p>
            <a:pPr marL="171450" indent="-171450">
              <a:spcBef>
                <a:spcPts val="1200"/>
              </a:spcBef>
              <a:buClr>
                <a:schemeClr val="tx2"/>
              </a:buClr>
              <a:buFont typeface="Segoe UI Light" panose="020B0502040204020203" pitchFamily="34" charset="0"/>
              <a:buChar char="›"/>
            </a:pPr>
            <a:r>
              <a:rPr lang="en-US" dirty="0">
                <a:solidFill>
                  <a:schemeClr val="tx1">
                    <a:lumMod val="75000"/>
                    <a:lumOff val="25000"/>
                  </a:schemeClr>
                </a:solidFill>
                <a:cs typeface="Segoe UI" panose="020B0502040204020203" pitchFamily="34" charset="0"/>
              </a:rPr>
              <a:t>Digital Analog Converter, Analog Digital Converter, Comparators, Operational Amplifiers.
 8 LEDs and two buttons connected to the GPIO interface</a:t>
            </a:r>
            <a:r>
              <a:rPr lang="it-IT" sz="1800" dirty="0">
                <a:solidFill>
                  <a:schemeClr val="tx1">
                    <a:lumMod val="75000"/>
                    <a:lumOff val="25000"/>
                  </a:schemeClr>
                </a:solidFill>
                <a:cs typeface="Segoe UI" panose="020B0502040204020203" pitchFamily="34" charset="0"/>
              </a:rPr>
              <a:t>.</a:t>
            </a:r>
          </a:p>
          <a:p>
            <a:pPr marL="171450" indent="-171450">
              <a:spcBef>
                <a:spcPts val="1200"/>
              </a:spcBef>
              <a:buClr>
                <a:schemeClr val="tx2"/>
              </a:buClr>
              <a:buFont typeface="Segoe UI Light" panose="020B0502040204020203" pitchFamily="34" charset="0"/>
              <a:buChar char="›"/>
            </a:pPr>
            <a:r>
              <a:rPr lang="en-US" dirty="0">
                <a:solidFill>
                  <a:schemeClr val="tx1">
                    <a:lumMod val="75000"/>
                    <a:lumOff val="25000"/>
                  </a:schemeClr>
                </a:solidFill>
                <a:cs typeface="Segoe UI" panose="020B0502040204020203" pitchFamily="34" charset="0"/>
              </a:rPr>
              <a:t>Connectivity via USART, SPI, I2C, USB and CAN protocols</a:t>
            </a:r>
            <a:r>
              <a:rPr lang="it-IT" sz="1800" dirty="0">
                <a:solidFill>
                  <a:schemeClr val="tx1">
                    <a:lumMod val="75000"/>
                    <a:lumOff val="25000"/>
                  </a:schemeClr>
                </a:solidFill>
                <a:cs typeface="Segoe UI" panose="020B0502040204020203" pitchFamily="34" charset="0"/>
              </a:rPr>
              <a:t>.</a:t>
            </a:r>
          </a:p>
        </p:txBody>
      </p:sp>
    </p:spTree>
    <p:extLst>
      <p:ext uri="{BB962C8B-B14F-4D97-AF65-F5344CB8AC3E}">
        <p14:creationId xmlns:p14="http://schemas.microsoft.com/office/powerpoint/2010/main" val="2743667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Hardware </a:t>
            </a:r>
            <a:r>
              <a:rPr lang="it-IT" sz="2800" b="1" dirty="0" err="1">
                <a:solidFill>
                  <a:schemeClr val="tx1">
                    <a:lumMod val="75000"/>
                    <a:lumOff val="25000"/>
                  </a:schemeClr>
                </a:solidFill>
              </a:rPr>
              <a:t>used</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084" name="Picture 12">
            <a:extLst>
              <a:ext uri="{FF2B5EF4-FFF2-40B4-BE49-F238E27FC236}">
                <a16:creationId xmlns:a16="http://schemas.microsoft.com/office/drawing/2014/main" id="{8BE1F167-EF35-BEA2-D837-9DC0531118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349" y="1147627"/>
            <a:ext cx="1673525" cy="167352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a:extLst>
              <a:ext uri="{FF2B5EF4-FFF2-40B4-BE49-F238E27FC236}">
                <a16:creationId xmlns:a16="http://schemas.microsoft.com/office/drawing/2014/main" id="{DA6F9688-19EF-E4B5-0DA5-63C6D210A4F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798" y="3823542"/>
            <a:ext cx="2761716" cy="2221302"/>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6B1568ED-BACE-1237-E175-1A1ADE752D91}"/>
              </a:ext>
            </a:extLst>
          </p:cNvPr>
          <p:cNvSpPr txBox="1"/>
          <p:nvPr/>
        </p:nvSpPr>
        <p:spPr>
          <a:xfrm>
            <a:off x="3191774" y="1043796"/>
            <a:ext cx="8315864" cy="1477328"/>
          </a:xfrm>
          <a:prstGeom prst="rect">
            <a:avLst/>
          </a:prstGeom>
          <a:noFill/>
        </p:spPr>
        <p:txBody>
          <a:bodyPr wrap="square" rtlCol="0">
            <a:spAutoFit/>
          </a:bodyPr>
          <a:lstStyle/>
          <a:p>
            <a:r>
              <a:rPr lang="en-US" dirty="0"/>
              <a:t>The HC-05 is a serial-to-Bluetooth converter module. In particular, it can convert messages received via UART and send them via the Serial Port Profile (SPP) of the Bluetooth standard. Within a Bluetooth connection it can function both as a Master and as a Slave. Supports secure PIN pairing. It is powered by 5V and has a status LED and a button to start scanning nearby devices. The default baud rate is 9600 bits/s.</a:t>
            </a:r>
            <a:endParaRPr lang="it-IT" dirty="0"/>
          </a:p>
        </p:txBody>
      </p:sp>
      <p:sp>
        <p:nvSpPr>
          <p:cNvPr id="3" name="CasellaDiTesto 2">
            <a:extLst>
              <a:ext uri="{FF2B5EF4-FFF2-40B4-BE49-F238E27FC236}">
                <a16:creationId xmlns:a16="http://schemas.microsoft.com/office/drawing/2014/main" id="{B2683901-89CC-4ED9-44AB-31445B53D1EA}"/>
              </a:ext>
            </a:extLst>
          </p:cNvPr>
          <p:cNvSpPr txBox="1"/>
          <p:nvPr/>
        </p:nvSpPr>
        <p:spPr>
          <a:xfrm>
            <a:off x="240550" y="4057030"/>
            <a:ext cx="7548113" cy="2308324"/>
          </a:xfrm>
          <a:prstGeom prst="rect">
            <a:avLst/>
          </a:prstGeom>
          <a:noFill/>
        </p:spPr>
        <p:txBody>
          <a:bodyPr wrap="square" rtlCol="0">
            <a:spAutoFit/>
          </a:bodyPr>
          <a:lstStyle/>
          <a:p>
            <a:r>
              <a:rPr lang="en-US" dirty="0"/>
              <a:t>The ST7735 is a cost-effective microcontroller that is based on simple color LCD displays. The sample used has a resolution of 128x160 and supports colors in RGB 5-6-5 format with 65k of displayable colors. It is backlit by two white LEDs whose light is reflected all over the screen. It uses the Serial </a:t>
            </a:r>
            <a:r>
              <a:rPr lang="en-US" dirty="0" err="1"/>
              <a:t>Periferal</a:t>
            </a:r>
            <a:r>
              <a:rPr lang="en-US" dirty="0"/>
              <a:t> Interface (SPI) protocol, but also supports parallel connection (Intel 8080). It also has an SD card reader to be able to view images in bitmap format (.bmp). It is powered at 5V with a separate connection for backlighting.</a:t>
            </a:r>
            <a:endParaRPr lang="it-IT" dirty="0"/>
          </a:p>
        </p:txBody>
      </p:sp>
    </p:spTree>
    <p:extLst>
      <p:ext uri="{BB962C8B-B14F-4D97-AF65-F5344CB8AC3E}">
        <p14:creationId xmlns:p14="http://schemas.microsoft.com/office/powerpoint/2010/main" val="423399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Hardware </a:t>
            </a:r>
            <a:r>
              <a:rPr lang="it-IT" sz="2800" b="1" dirty="0" err="1">
                <a:solidFill>
                  <a:schemeClr val="tx1">
                    <a:lumMod val="75000"/>
                    <a:lumOff val="25000"/>
                  </a:schemeClr>
                </a:solidFill>
              </a:rPr>
              <a:t>used</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088" name="Picture 16" descr="Duracell 9V Batterie, confezione da 2 : Amazon.it: Elettronica">
            <a:extLst>
              <a:ext uri="{FF2B5EF4-FFF2-40B4-BE49-F238E27FC236}">
                <a16:creationId xmlns:a16="http://schemas.microsoft.com/office/drawing/2014/main" id="{523DEFE4-0195-4AE1-8DD9-B904F68E98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6965" y="2599643"/>
            <a:ext cx="917236" cy="1658715"/>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LED BLU 5 mm - ALTA LUMINOSITA' (8000 MCD)">
            <a:extLst>
              <a:ext uri="{FF2B5EF4-FFF2-40B4-BE49-F238E27FC236}">
                <a16:creationId xmlns:a16="http://schemas.microsoft.com/office/drawing/2014/main" id="{715FD6AB-336E-8CDA-4473-DE0CA68F89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804" y="2425101"/>
            <a:ext cx="2007798" cy="2007798"/>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Resistori a strato: cosa sono, a cosa servono e come sceglierli">
            <a:extLst>
              <a:ext uri="{FF2B5EF4-FFF2-40B4-BE49-F238E27FC236}">
                <a16:creationId xmlns:a16="http://schemas.microsoft.com/office/drawing/2014/main" id="{C7526F62-5023-FFBB-38D8-ECBFC08D16E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974" y="2537326"/>
            <a:ext cx="2329943" cy="1783348"/>
          </a:xfrm>
          <a:prstGeom prst="rect">
            <a:avLst/>
          </a:prstGeom>
          <a:noFill/>
          <a:extLst>
            <a:ext uri="{909E8E84-426E-40DD-AFC4-6F175D3DCCD1}">
              <a14:hiddenFill xmlns:a14="http://schemas.microsoft.com/office/drawing/2010/main">
                <a:solidFill>
                  <a:srgbClr val="FFFFFF"/>
                </a:solidFill>
              </a14:hiddenFill>
            </a:ext>
          </a:extLst>
        </p:spPr>
      </p:pic>
      <p:sp>
        <p:nvSpPr>
          <p:cNvPr id="2" name="CasellaDiTesto 1">
            <a:extLst>
              <a:ext uri="{FF2B5EF4-FFF2-40B4-BE49-F238E27FC236}">
                <a16:creationId xmlns:a16="http://schemas.microsoft.com/office/drawing/2014/main" id="{1B468A26-0A10-83FD-8D81-D7FA4A19D564}"/>
              </a:ext>
            </a:extLst>
          </p:cNvPr>
          <p:cNvSpPr txBox="1"/>
          <p:nvPr/>
        </p:nvSpPr>
        <p:spPr>
          <a:xfrm>
            <a:off x="1621360" y="4465839"/>
            <a:ext cx="1035170" cy="369332"/>
          </a:xfrm>
          <a:prstGeom prst="rect">
            <a:avLst/>
          </a:prstGeom>
          <a:noFill/>
        </p:spPr>
        <p:txBody>
          <a:bodyPr wrap="square" rtlCol="0">
            <a:spAutoFit/>
          </a:bodyPr>
          <a:lstStyle/>
          <a:p>
            <a:r>
              <a:rPr lang="it-IT" dirty="0" err="1"/>
              <a:t>Resistors</a:t>
            </a:r>
            <a:endParaRPr lang="it-IT" dirty="0"/>
          </a:p>
        </p:txBody>
      </p:sp>
      <p:sp>
        <p:nvSpPr>
          <p:cNvPr id="13" name="CasellaDiTesto 12">
            <a:extLst>
              <a:ext uri="{FF2B5EF4-FFF2-40B4-BE49-F238E27FC236}">
                <a16:creationId xmlns:a16="http://schemas.microsoft.com/office/drawing/2014/main" id="{1A7B1646-8993-0DA1-1124-93EA684E6108}"/>
              </a:ext>
            </a:extLst>
          </p:cNvPr>
          <p:cNvSpPr txBox="1"/>
          <p:nvPr/>
        </p:nvSpPr>
        <p:spPr>
          <a:xfrm>
            <a:off x="4490865" y="4327340"/>
            <a:ext cx="3355675" cy="923330"/>
          </a:xfrm>
          <a:prstGeom prst="rect">
            <a:avLst/>
          </a:prstGeom>
          <a:noFill/>
        </p:spPr>
        <p:txBody>
          <a:bodyPr wrap="square" rtlCol="0">
            <a:spAutoFit/>
          </a:bodyPr>
          <a:lstStyle/>
          <a:p>
            <a:pPr algn="ctr"/>
            <a:r>
              <a:rPr lang="en-US" dirty="0"/>
              <a:t>940 nm IR LED. With </a:t>
            </a:r>
            <a:r>
              <a:rPr lang="en-US" dirty="0" err="1"/>
              <a:t>Vf</a:t>
            </a:r>
            <a:r>
              <a:rPr lang="en-US" dirty="0"/>
              <a:t> = 1.5-1.6V and current consumption of 60 mA</a:t>
            </a:r>
            <a:endParaRPr lang="it-IT" dirty="0"/>
          </a:p>
        </p:txBody>
      </p:sp>
      <p:sp>
        <p:nvSpPr>
          <p:cNvPr id="15" name="CasellaDiTesto 14">
            <a:extLst>
              <a:ext uri="{FF2B5EF4-FFF2-40B4-BE49-F238E27FC236}">
                <a16:creationId xmlns:a16="http://schemas.microsoft.com/office/drawing/2014/main" id="{6349F6A1-7049-4B8D-111F-E754414952CD}"/>
              </a:ext>
            </a:extLst>
          </p:cNvPr>
          <p:cNvSpPr txBox="1"/>
          <p:nvPr/>
        </p:nvSpPr>
        <p:spPr>
          <a:xfrm>
            <a:off x="9033489" y="4465839"/>
            <a:ext cx="2104187" cy="369332"/>
          </a:xfrm>
          <a:prstGeom prst="rect">
            <a:avLst/>
          </a:prstGeom>
          <a:noFill/>
        </p:spPr>
        <p:txBody>
          <a:bodyPr wrap="square" rtlCol="0">
            <a:spAutoFit/>
          </a:bodyPr>
          <a:lstStyle/>
          <a:p>
            <a:pPr algn="ctr"/>
            <a:r>
              <a:rPr lang="it-IT" dirty="0"/>
              <a:t>9V </a:t>
            </a:r>
            <a:r>
              <a:rPr lang="it-IT" dirty="0" err="1"/>
              <a:t>battery</a:t>
            </a:r>
            <a:endParaRPr lang="it-IT" dirty="0"/>
          </a:p>
        </p:txBody>
      </p:sp>
    </p:spTree>
    <p:extLst>
      <p:ext uri="{BB962C8B-B14F-4D97-AF65-F5344CB8AC3E}">
        <p14:creationId xmlns:p14="http://schemas.microsoft.com/office/powerpoint/2010/main" val="2921751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SPI </a:t>
            </a:r>
            <a:r>
              <a:rPr lang="it-IT" sz="2800" b="1" dirty="0" err="1">
                <a:solidFill>
                  <a:schemeClr val="tx1">
                    <a:lumMod val="75000"/>
                    <a:lumOff val="25000"/>
                  </a:schemeClr>
                </a:solidFill>
              </a:rPr>
              <a:t>Protocol</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026" name="Picture 2">
            <a:extLst>
              <a:ext uri="{FF2B5EF4-FFF2-40B4-BE49-F238E27FC236}">
                <a16:creationId xmlns:a16="http://schemas.microsoft.com/office/drawing/2014/main" id="{DD2847AF-E04A-C0F5-C7B8-F773C488B8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9139" y="855297"/>
            <a:ext cx="4393721" cy="1373038"/>
          </a:xfrm>
          <a:prstGeom prst="rect">
            <a:avLst/>
          </a:prstGeom>
          <a:noFill/>
          <a:extLst>
            <a:ext uri="{909E8E84-426E-40DD-AFC4-6F175D3DCCD1}">
              <a14:hiddenFill xmlns:a14="http://schemas.microsoft.com/office/drawing/2010/main">
                <a:solidFill>
                  <a:srgbClr val="FFFFFF"/>
                </a:solidFill>
              </a14:hiddenFill>
            </a:ext>
          </a:extLst>
        </p:spPr>
      </p:pic>
      <p:sp>
        <p:nvSpPr>
          <p:cNvPr id="42" name="CasellaDiTesto 41">
            <a:extLst>
              <a:ext uri="{FF2B5EF4-FFF2-40B4-BE49-F238E27FC236}">
                <a16:creationId xmlns:a16="http://schemas.microsoft.com/office/drawing/2014/main" id="{6786B737-F4EE-7FFC-064F-8C4043A9AE15}"/>
              </a:ext>
            </a:extLst>
          </p:cNvPr>
          <p:cNvSpPr txBox="1"/>
          <p:nvPr/>
        </p:nvSpPr>
        <p:spPr>
          <a:xfrm>
            <a:off x="312168" y="2505334"/>
            <a:ext cx="11651232" cy="3754874"/>
          </a:xfrm>
          <a:prstGeom prst="rect">
            <a:avLst/>
          </a:prstGeom>
          <a:noFill/>
        </p:spPr>
        <p:txBody>
          <a:bodyPr wrap="square" rtlCol="0">
            <a:spAutoFit/>
          </a:bodyPr>
          <a:lstStyle/>
          <a:p>
            <a:r>
              <a:rPr lang="en-US" dirty="0"/>
              <a:t>It is a communication standard bus developed by Motorola. The transmission takes place between a Master and one or more Slaves. The Master in addition to controlling the bus also emits the clock signal</a:t>
            </a:r>
            <a:r>
              <a:rPr lang="it-IT" dirty="0"/>
              <a:t>. </a:t>
            </a:r>
          </a:p>
          <a:p>
            <a:r>
              <a:rPr lang="en-US" dirty="0"/>
              <a:t>As far as the transmission speed is concerned, there is no lower or upper limit and the speed is dictated by the physical limits (parasitic capacitance) or by the specifications provided with the device datasheet.</a:t>
            </a:r>
          </a:p>
          <a:p>
            <a:r>
              <a:rPr lang="en-US" dirty="0"/>
              <a:t>The SPI protocol is serial, synchronous and full-duplex</a:t>
            </a:r>
            <a:r>
              <a:rPr lang="it-IT" dirty="0"/>
              <a:t>.</a:t>
            </a:r>
          </a:p>
          <a:p>
            <a:r>
              <a:rPr lang="en-US" dirty="0"/>
              <a:t>SPI is realized with four signals</a:t>
            </a:r>
            <a:r>
              <a:rPr lang="it-IT" dirty="0"/>
              <a:t>:</a:t>
            </a:r>
          </a:p>
          <a:p>
            <a:pPr marL="171450" indent="-171450">
              <a:spcBef>
                <a:spcPts val="1200"/>
              </a:spcBef>
              <a:buClr>
                <a:schemeClr val="tx2"/>
              </a:buClr>
              <a:buFont typeface="Segoe UI Light" panose="020B0502040204020203" pitchFamily="34" charset="0"/>
              <a:buChar char="›"/>
            </a:pPr>
            <a:r>
              <a:rPr lang="en-US" dirty="0">
                <a:solidFill>
                  <a:schemeClr val="tx1">
                    <a:lumMod val="75000"/>
                    <a:lumOff val="25000"/>
                  </a:schemeClr>
                </a:solidFill>
                <a:cs typeface="Segoe UI" panose="020B0502040204020203" pitchFamily="34" charset="0"/>
              </a:rPr>
              <a:t>SCLK (also called SCK, CLK) – Serial Clock</a:t>
            </a:r>
            <a:r>
              <a:rPr lang="it-IT" dirty="0">
                <a:solidFill>
                  <a:schemeClr val="tx1">
                    <a:lumMod val="75000"/>
                    <a:lumOff val="25000"/>
                  </a:schemeClr>
                </a:solidFill>
                <a:cs typeface="Segoe UI" panose="020B0502040204020203" pitchFamily="34" charset="0"/>
              </a:rPr>
              <a:t>.</a:t>
            </a:r>
          </a:p>
          <a:p>
            <a:pPr marL="171450" indent="-171450">
              <a:spcBef>
                <a:spcPts val="1200"/>
              </a:spcBef>
              <a:buClr>
                <a:schemeClr val="tx2"/>
              </a:buClr>
              <a:buFont typeface="Segoe UI Light" panose="020B0502040204020203" pitchFamily="34" charset="0"/>
              <a:buChar char="›"/>
            </a:pPr>
            <a:r>
              <a:rPr lang="it-IT" dirty="0">
                <a:solidFill>
                  <a:schemeClr val="tx1">
                    <a:lumMod val="75000"/>
                    <a:lumOff val="25000"/>
                  </a:schemeClr>
                </a:solidFill>
                <a:cs typeface="Segoe UI" panose="020B0502040204020203" pitchFamily="34" charset="0"/>
              </a:rPr>
              <a:t>SDI (also </a:t>
            </a:r>
            <a:r>
              <a:rPr lang="it-IT" dirty="0" err="1">
                <a:solidFill>
                  <a:schemeClr val="tx1">
                    <a:lumMod val="75000"/>
                    <a:lumOff val="25000"/>
                  </a:schemeClr>
                </a:solidFill>
                <a:cs typeface="Segoe UI" panose="020B0502040204020203" pitchFamily="34" charset="0"/>
              </a:rPr>
              <a:t>called</a:t>
            </a:r>
            <a:r>
              <a:rPr lang="it-IT" dirty="0">
                <a:solidFill>
                  <a:schemeClr val="tx1">
                    <a:lumMod val="75000"/>
                    <a:lumOff val="25000"/>
                  </a:schemeClr>
                </a:solidFill>
                <a:cs typeface="Segoe UI" panose="020B0502040204020203" pitchFamily="34" charset="0"/>
              </a:rPr>
              <a:t> MISO, SOMI, DI, SO) – Serial Data Input (Master Input Slave Output).</a:t>
            </a:r>
          </a:p>
          <a:p>
            <a:pPr marL="171450" indent="-171450">
              <a:spcBef>
                <a:spcPts val="1200"/>
              </a:spcBef>
              <a:buClr>
                <a:schemeClr val="tx2"/>
              </a:buClr>
              <a:buFont typeface="Segoe UI Light" panose="020B0502040204020203" pitchFamily="34" charset="0"/>
              <a:buChar char="›"/>
            </a:pPr>
            <a:r>
              <a:rPr lang="en-US" dirty="0">
                <a:solidFill>
                  <a:schemeClr val="tx1">
                    <a:lumMod val="75000"/>
                    <a:lumOff val="25000"/>
                  </a:schemeClr>
                </a:solidFill>
                <a:cs typeface="Segoe UI" panose="020B0502040204020203" pitchFamily="34" charset="0"/>
              </a:rPr>
              <a:t>SDO (also called MOSI, SIMO, DO, SI) – Serial Data Output (Master Output Slave Input)</a:t>
            </a:r>
            <a:r>
              <a:rPr lang="it-IT" dirty="0">
                <a:solidFill>
                  <a:schemeClr val="tx1">
                    <a:lumMod val="75000"/>
                    <a:lumOff val="25000"/>
                  </a:schemeClr>
                </a:solidFill>
                <a:cs typeface="Segoe UI" panose="020B0502040204020203" pitchFamily="34" charset="0"/>
              </a:rPr>
              <a:t>.</a:t>
            </a:r>
          </a:p>
          <a:p>
            <a:pPr marL="171450" indent="-171450">
              <a:spcBef>
                <a:spcPts val="1200"/>
              </a:spcBef>
              <a:buClr>
                <a:schemeClr val="tx2"/>
              </a:buClr>
              <a:buFont typeface="Segoe UI Light" panose="020B0502040204020203" pitchFamily="34" charset="0"/>
              <a:buChar char="›"/>
            </a:pPr>
            <a:r>
              <a:rPr lang="en-US" dirty="0">
                <a:solidFill>
                  <a:schemeClr val="tx1">
                    <a:lumMod val="75000"/>
                    <a:lumOff val="25000"/>
                  </a:schemeClr>
                </a:solidFill>
                <a:cs typeface="Segoe UI" panose="020B0502040204020203" pitchFamily="34" charset="0"/>
              </a:rPr>
              <a:t>CS (SS, </a:t>
            </a:r>
            <a:r>
              <a:rPr lang="en-US" dirty="0" err="1">
                <a:solidFill>
                  <a:schemeClr val="tx1">
                    <a:lumMod val="75000"/>
                    <a:lumOff val="25000"/>
                  </a:schemeClr>
                </a:solidFill>
                <a:cs typeface="Segoe UI" panose="020B0502040204020203" pitchFamily="34" charset="0"/>
              </a:rPr>
              <a:t>nCS</a:t>
            </a:r>
            <a:r>
              <a:rPr lang="en-US" dirty="0">
                <a:solidFill>
                  <a:schemeClr val="tx1">
                    <a:lumMod val="75000"/>
                    <a:lumOff val="25000"/>
                  </a:schemeClr>
                </a:solidFill>
                <a:cs typeface="Segoe UI" panose="020B0502040204020203" pitchFamily="34" charset="0"/>
              </a:rPr>
              <a:t>, </a:t>
            </a:r>
            <a:r>
              <a:rPr lang="en-US" dirty="0" err="1">
                <a:solidFill>
                  <a:schemeClr val="tx1">
                    <a:lumMod val="75000"/>
                    <a:lumOff val="25000"/>
                  </a:schemeClr>
                </a:solidFill>
                <a:cs typeface="Segoe UI" panose="020B0502040204020203" pitchFamily="34" charset="0"/>
              </a:rPr>
              <a:t>nSS</a:t>
            </a:r>
            <a:r>
              <a:rPr lang="en-US" dirty="0">
                <a:solidFill>
                  <a:schemeClr val="tx1">
                    <a:lumMod val="75000"/>
                    <a:lumOff val="25000"/>
                  </a:schemeClr>
                </a:solidFill>
                <a:cs typeface="Segoe UI" panose="020B0502040204020203" pitchFamily="34" charset="0"/>
              </a:rPr>
              <a:t>, STE) – Chip Select used by the Master to select the Slave, to start the communication the slave must be placed at a low logic level</a:t>
            </a:r>
            <a:r>
              <a:rPr lang="it-IT" dirty="0">
                <a:solidFill>
                  <a:schemeClr val="tx1">
                    <a:lumMod val="75000"/>
                    <a:lumOff val="25000"/>
                  </a:schemeClr>
                </a:solidFill>
                <a:cs typeface="Segoe UI" panose="020B0502040204020203" pitchFamily="34" charset="0"/>
              </a:rPr>
              <a:t>.</a:t>
            </a:r>
            <a:endParaRPr lang="it-IT" dirty="0"/>
          </a:p>
        </p:txBody>
      </p:sp>
    </p:spTree>
    <p:extLst>
      <p:ext uri="{BB962C8B-B14F-4D97-AF65-F5344CB8AC3E}">
        <p14:creationId xmlns:p14="http://schemas.microsoft.com/office/powerpoint/2010/main" val="25712980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SPI </a:t>
            </a:r>
            <a:r>
              <a:rPr lang="it-IT" sz="2800" b="1" dirty="0" err="1">
                <a:solidFill>
                  <a:schemeClr val="tx1">
                    <a:lumMod val="75000"/>
                    <a:lumOff val="25000"/>
                  </a:schemeClr>
                </a:solidFill>
              </a:rPr>
              <a:t>Protocol</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2" name="CasellaDiTesto 41">
            <a:extLst>
              <a:ext uri="{FF2B5EF4-FFF2-40B4-BE49-F238E27FC236}">
                <a16:creationId xmlns:a16="http://schemas.microsoft.com/office/drawing/2014/main" id="{6786B737-F4EE-7FFC-064F-8C4043A9AE15}"/>
              </a:ext>
            </a:extLst>
          </p:cNvPr>
          <p:cNvSpPr txBox="1"/>
          <p:nvPr/>
        </p:nvSpPr>
        <p:spPr>
          <a:xfrm>
            <a:off x="312168" y="3313725"/>
            <a:ext cx="11651232" cy="2862322"/>
          </a:xfrm>
          <a:prstGeom prst="rect">
            <a:avLst/>
          </a:prstGeom>
          <a:noFill/>
        </p:spPr>
        <p:txBody>
          <a:bodyPr wrap="square" rtlCol="0">
            <a:spAutoFit/>
          </a:bodyPr>
          <a:lstStyle/>
          <a:p>
            <a:r>
              <a:rPr lang="en-US" dirty="0"/>
              <a:t>As can be seen from the figure, both master and slave are equipped with a slip register connected circularly through MISO and MOSI signals. In this way, the most significant bit of its sliding register is exchanged at each clock stroke. Each transfer is done at byte quanta.
During the transfer, the Master will lower the CS line corresponding to the desired Slave and with the clock will run both its own and the Slave's shift register, sending its MSB and receiving that of the Slave. After 8 clock strokes, the register of one will contain the data previously present on the other.</a:t>
            </a:r>
            <a:endParaRPr lang="it-IT" dirty="0"/>
          </a:p>
          <a:p>
            <a:r>
              <a:rPr lang="en-US" dirty="0"/>
              <a:t>SPI also allows you to daisy chain devices to use a single line of CS. In this case, the CS line is also used to signal to slaves when to sample their scroll register. The Master injects the data on the MOSI line starting from the most significant bit to be sent to the last slave. When the Master has sent the least significant bit of the first slave, he will then enable the CS line, allowing the sampling of the sliding registers.</a:t>
            </a:r>
            <a:endParaRPr lang="it-IT" dirty="0"/>
          </a:p>
        </p:txBody>
      </p:sp>
      <p:grpSp>
        <p:nvGrpSpPr>
          <p:cNvPr id="2" name="Gruppo 1">
            <a:extLst>
              <a:ext uri="{FF2B5EF4-FFF2-40B4-BE49-F238E27FC236}">
                <a16:creationId xmlns:a16="http://schemas.microsoft.com/office/drawing/2014/main" id="{A0BF7997-521D-C091-27A8-C6337B2A8958}"/>
              </a:ext>
            </a:extLst>
          </p:cNvPr>
          <p:cNvGrpSpPr/>
          <p:nvPr/>
        </p:nvGrpSpPr>
        <p:grpSpPr>
          <a:xfrm>
            <a:off x="1017289" y="617006"/>
            <a:ext cx="10157423" cy="2566145"/>
            <a:chOff x="607534" y="617006"/>
            <a:chExt cx="10157423" cy="2566145"/>
          </a:xfrm>
        </p:grpSpPr>
        <p:pic>
          <p:nvPicPr>
            <p:cNvPr id="2050" name="Picture 2">
              <a:extLst>
                <a:ext uri="{FF2B5EF4-FFF2-40B4-BE49-F238E27FC236}">
                  <a16:creationId xmlns:a16="http://schemas.microsoft.com/office/drawing/2014/main" id="{265DB3EB-98E0-5244-6AD2-35487A638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534" y="1028308"/>
              <a:ext cx="4354598" cy="174354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07214FDF-CD5C-2EC4-6D19-1DDAA3CC7C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8763" y="617006"/>
              <a:ext cx="3236194" cy="256614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8623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SPI </a:t>
            </a:r>
            <a:r>
              <a:rPr lang="it-IT" sz="2800" b="1" dirty="0" err="1">
                <a:solidFill>
                  <a:schemeClr val="tx1">
                    <a:lumMod val="75000"/>
                    <a:lumOff val="25000"/>
                  </a:schemeClr>
                </a:solidFill>
              </a:rPr>
              <a:t>Protocol</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2" name="CasellaDiTesto 41">
            <a:extLst>
              <a:ext uri="{FF2B5EF4-FFF2-40B4-BE49-F238E27FC236}">
                <a16:creationId xmlns:a16="http://schemas.microsoft.com/office/drawing/2014/main" id="{6786B737-F4EE-7FFC-064F-8C4043A9AE15}"/>
              </a:ext>
            </a:extLst>
          </p:cNvPr>
          <p:cNvSpPr txBox="1"/>
          <p:nvPr/>
        </p:nvSpPr>
        <p:spPr>
          <a:xfrm>
            <a:off x="228600" y="4313206"/>
            <a:ext cx="11734800" cy="1200329"/>
          </a:xfrm>
          <a:prstGeom prst="rect">
            <a:avLst/>
          </a:prstGeom>
          <a:noFill/>
        </p:spPr>
        <p:txBody>
          <a:bodyPr wrap="square" rtlCol="0">
            <a:spAutoFit/>
          </a:bodyPr>
          <a:lstStyle/>
          <a:p>
            <a:r>
              <a:rPr lang="en-US" dirty="0"/>
              <a:t>The Master can be configured according to CPOL and CPHA parameters. The first indicates whether the base of the clock is 1 or 0. The second instead indicates the clock edge used for the strobe of the data. If CPOL = 0, the data is sampled on the rising edge if CPHA is 0, on the falling edge if CPHA is 1. Conversely, if CPOL = 1, the data is sampled on the falling edge if CPHA is worth 0, on the rising edge if CPHA is worth 1.</a:t>
            </a:r>
            <a:endParaRPr lang="it-IT" dirty="0"/>
          </a:p>
        </p:txBody>
      </p:sp>
      <p:pic>
        <p:nvPicPr>
          <p:cNvPr id="3074" name="Picture 2">
            <a:extLst>
              <a:ext uri="{FF2B5EF4-FFF2-40B4-BE49-F238E27FC236}">
                <a16:creationId xmlns:a16="http://schemas.microsoft.com/office/drawing/2014/main" id="{7B0F3461-5E46-C566-661D-C5910DCF6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19" y="745650"/>
            <a:ext cx="5119778" cy="2975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554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Data/</a:t>
            </a:r>
            <a:r>
              <a:rPr lang="it-IT" sz="2800" b="1" dirty="0" err="1">
                <a:solidFill>
                  <a:schemeClr val="tx1">
                    <a:lumMod val="75000"/>
                    <a:lumOff val="25000"/>
                  </a:schemeClr>
                </a:solidFill>
              </a:rPr>
              <a:t>Command</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2" name="CasellaDiTesto 41">
            <a:extLst>
              <a:ext uri="{FF2B5EF4-FFF2-40B4-BE49-F238E27FC236}">
                <a16:creationId xmlns:a16="http://schemas.microsoft.com/office/drawing/2014/main" id="{6786B737-F4EE-7FFC-064F-8C4043A9AE15}"/>
              </a:ext>
            </a:extLst>
          </p:cNvPr>
          <p:cNvSpPr txBox="1"/>
          <p:nvPr/>
        </p:nvSpPr>
        <p:spPr>
          <a:xfrm>
            <a:off x="228600" y="4649788"/>
            <a:ext cx="11734800" cy="2062103"/>
          </a:xfrm>
          <a:prstGeom prst="rect">
            <a:avLst/>
          </a:prstGeom>
          <a:noFill/>
        </p:spPr>
        <p:txBody>
          <a:bodyPr wrap="square" rtlCol="0">
            <a:spAutoFit/>
          </a:bodyPr>
          <a:lstStyle/>
          <a:p>
            <a:r>
              <a:rPr lang="en-US" sz="1600" dirty="0"/>
              <a:t>In addition to the connections for the operation of the SPI protocol, the ST7735 microcontroller displays also have a reset connection and a Data/Command (D/CX) connection. When 8 bits are received via the SPI protocol, they can represent both a command for the controller and data to be written to RAM. The D/CX link is used to interpret the data received via SPI as a command if the line is low, as data if the line is high. The D/CX signal is sampled on the rising edge of the eighth clock stroke of SCLK. Commands are always identified by 8 bits and can be accompanied by parameters that are transmitted in subsequent bytes. Among the various commands, it is worth mentioning those of RASET and CASET that are used to set the memory address window that you want to change before the color information is transmitted and the RAMWR command that enables the writing of the internal RAM within the window set with RASET and CASET.</a:t>
            </a:r>
            <a:endParaRPr lang="it-IT" sz="1600" dirty="0"/>
          </a:p>
        </p:txBody>
      </p:sp>
      <p:pic>
        <p:nvPicPr>
          <p:cNvPr id="4" name="Immagine 3">
            <a:extLst>
              <a:ext uri="{FF2B5EF4-FFF2-40B4-BE49-F238E27FC236}">
                <a16:creationId xmlns:a16="http://schemas.microsoft.com/office/drawing/2014/main" id="{D7CD5EF6-F8EA-5ED6-F828-A3CBAC3B9DD8}"/>
              </a:ext>
            </a:extLst>
          </p:cNvPr>
          <p:cNvPicPr>
            <a:picLocks noChangeAspect="1"/>
          </p:cNvPicPr>
          <p:nvPr/>
        </p:nvPicPr>
        <p:blipFill>
          <a:blip r:embed="rId3"/>
          <a:stretch>
            <a:fillRect/>
          </a:stretch>
        </p:blipFill>
        <p:spPr>
          <a:xfrm>
            <a:off x="1750573" y="910696"/>
            <a:ext cx="6965576" cy="3618317"/>
          </a:xfrm>
          <a:prstGeom prst="rect">
            <a:avLst/>
          </a:prstGeom>
        </p:spPr>
      </p:pic>
    </p:spTree>
    <p:extLst>
      <p:ext uri="{BB962C8B-B14F-4D97-AF65-F5344CB8AC3E}">
        <p14:creationId xmlns:p14="http://schemas.microsoft.com/office/powerpoint/2010/main" val="3929253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ST7735: </a:t>
            </a:r>
            <a:r>
              <a:rPr lang="it-IT" sz="2800" b="1" dirty="0" err="1">
                <a:solidFill>
                  <a:schemeClr val="tx1">
                    <a:lumMod val="75000"/>
                    <a:lumOff val="25000"/>
                  </a:schemeClr>
                </a:solidFill>
              </a:rPr>
              <a:t>Internal</a:t>
            </a:r>
            <a:r>
              <a:rPr lang="it-IT" sz="2800" b="1" dirty="0">
                <a:solidFill>
                  <a:schemeClr val="tx1">
                    <a:lumMod val="75000"/>
                    <a:lumOff val="25000"/>
                  </a:schemeClr>
                </a:solidFill>
              </a:rPr>
              <a:t> Architecture</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42" name="CasellaDiTesto 41">
            <a:extLst>
              <a:ext uri="{FF2B5EF4-FFF2-40B4-BE49-F238E27FC236}">
                <a16:creationId xmlns:a16="http://schemas.microsoft.com/office/drawing/2014/main" id="{6786B737-F4EE-7FFC-064F-8C4043A9AE15}"/>
              </a:ext>
            </a:extLst>
          </p:cNvPr>
          <p:cNvSpPr txBox="1"/>
          <p:nvPr/>
        </p:nvSpPr>
        <p:spPr>
          <a:xfrm>
            <a:off x="228600" y="4726347"/>
            <a:ext cx="11734800" cy="1754326"/>
          </a:xfrm>
          <a:prstGeom prst="rect">
            <a:avLst/>
          </a:prstGeom>
          <a:noFill/>
        </p:spPr>
        <p:txBody>
          <a:bodyPr wrap="square" rtlCol="0">
            <a:spAutoFit/>
          </a:bodyPr>
          <a:lstStyle/>
          <a:p>
            <a:r>
              <a:rPr lang="en-US" dirty="0"/>
              <a:t>The ST7735 controller is equipped with a static RAM of 132x162x18-bit. 
When you want to transmit a new image, you first set up an address window that is identified by the parameters XS and XE for column addresses, and YS and YE for row addresses, this is done with the CASET and RASET commands seen above. When the new color information is transmitted, a row counter and a column counter will be used to set the colors received by SPI pixel by pixel.  There are also a line counter and a scan counter that are used to read the image from the RAM and refresh the image on the display.</a:t>
            </a:r>
            <a:endParaRPr lang="it-IT" dirty="0"/>
          </a:p>
        </p:txBody>
      </p:sp>
      <p:pic>
        <p:nvPicPr>
          <p:cNvPr id="3" name="Immagine 2">
            <a:extLst>
              <a:ext uri="{FF2B5EF4-FFF2-40B4-BE49-F238E27FC236}">
                <a16:creationId xmlns:a16="http://schemas.microsoft.com/office/drawing/2014/main" id="{169AB211-4EDD-CCA6-4714-8222959D5C39}"/>
              </a:ext>
            </a:extLst>
          </p:cNvPr>
          <p:cNvPicPr>
            <a:picLocks noChangeAspect="1"/>
          </p:cNvPicPr>
          <p:nvPr/>
        </p:nvPicPr>
        <p:blipFill>
          <a:blip r:embed="rId3"/>
          <a:stretch>
            <a:fillRect/>
          </a:stretch>
        </p:blipFill>
        <p:spPr>
          <a:xfrm>
            <a:off x="4086225" y="664624"/>
            <a:ext cx="3972243" cy="3722940"/>
          </a:xfrm>
          <a:prstGeom prst="rect">
            <a:avLst/>
          </a:prstGeom>
        </p:spPr>
      </p:pic>
    </p:spTree>
    <p:extLst>
      <p:ext uri="{BB962C8B-B14F-4D97-AF65-F5344CB8AC3E}">
        <p14:creationId xmlns:p14="http://schemas.microsoft.com/office/powerpoint/2010/main" val="23711406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Mapping della memoria</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4" name="Immagine 3">
            <a:extLst>
              <a:ext uri="{FF2B5EF4-FFF2-40B4-BE49-F238E27FC236}">
                <a16:creationId xmlns:a16="http://schemas.microsoft.com/office/drawing/2014/main" id="{67D80D83-D38A-4C01-FA46-6BE20061BC70}"/>
              </a:ext>
            </a:extLst>
          </p:cNvPr>
          <p:cNvPicPr>
            <a:picLocks noChangeAspect="1"/>
          </p:cNvPicPr>
          <p:nvPr/>
        </p:nvPicPr>
        <p:blipFill>
          <a:blip r:embed="rId3"/>
          <a:stretch>
            <a:fillRect/>
          </a:stretch>
        </p:blipFill>
        <p:spPr>
          <a:xfrm>
            <a:off x="2566970" y="754599"/>
            <a:ext cx="7058060" cy="5348801"/>
          </a:xfrm>
          <a:prstGeom prst="rect">
            <a:avLst/>
          </a:prstGeom>
        </p:spPr>
      </p:pic>
    </p:spTree>
    <p:extLst>
      <p:ext uri="{BB962C8B-B14F-4D97-AF65-F5344CB8AC3E}">
        <p14:creationId xmlns:p14="http://schemas.microsoft.com/office/powerpoint/2010/main" val="346824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Mapping della memoria</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Immagine 2">
            <a:extLst>
              <a:ext uri="{FF2B5EF4-FFF2-40B4-BE49-F238E27FC236}">
                <a16:creationId xmlns:a16="http://schemas.microsoft.com/office/drawing/2014/main" id="{A1550115-5A43-A2D5-FB93-8B788304EB65}"/>
              </a:ext>
            </a:extLst>
          </p:cNvPr>
          <p:cNvPicPr>
            <a:picLocks noChangeAspect="1"/>
          </p:cNvPicPr>
          <p:nvPr/>
        </p:nvPicPr>
        <p:blipFill>
          <a:blip r:embed="rId3"/>
          <a:stretch>
            <a:fillRect/>
          </a:stretch>
        </p:blipFill>
        <p:spPr>
          <a:xfrm>
            <a:off x="661229" y="673718"/>
            <a:ext cx="10869542" cy="5734850"/>
          </a:xfrm>
          <a:prstGeom prst="rect">
            <a:avLst/>
          </a:prstGeom>
        </p:spPr>
      </p:pic>
    </p:spTree>
    <p:extLst>
      <p:ext uri="{BB962C8B-B14F-4D97-AF65-F5344CB8AC3E}">
        <p14:creationId xmlns:p14="http://schemas.microsoft.com/office/powerpoint/2010/main" val="18636582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Pixel Write</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Immagine 2">
            <a:extLst>
              <a:ext uri="{FF2B5EF4-FFF2-40B4-BE49-F238E27FC236}">
                <a16:creationId xmlns:a16="http://schemas.microsoft.com/office/drawing/2014/main" id="{85C1B96B-DEDD-B657-D94A-C2185F9FFD29}"/>
              </a:ext>
            </a:extLst>
          </p:cNvPr>
          <p:cNvPicPr>
            <a:picLocks noChangeAspect="1"/>
          </p:cNvPicPr>
          <p:nvPr/>
        </p:nvPicPr>
        <p:blipFill>
          <a:blip r:embed="rId3"/>
          <a:stretch>
            <a:fillRect/>
          </a:stretch>
        </p:blipFill>
        <p:spPr>
          <a:xfrm>
            <a:off x="90577" y="1313210"/>
            <a:ext cx="6784676" cy="4231580"/>
          </a:xfrm>
          <a:prstGeom prst="rect">
            <a:avLst/>
          </a:prstGeom>
        </p:spPr>
      </p:pic>
      <p:sp>
        <p:nvSpPr>
          <p:cNvPr id="42" name="CasellaDiTesto 41">
            <a:extLst>
              <a:ext uri="{FF2B5EF4-FFF2-40B4-BE49-F238E27FC236}">
                <a16:creationId xmlns:a16="http://schemas.microsoft.com/office/drawing/2014/main" id="{6786B737-F4EE-7FFC-064F-8C4043A9AE15}"/>
              </a:ext>
            </a:extLst>
          </p:cNvPr>
          <p:cNvSpPr txBox="1"/>
          <p:nvPr/>
        </p:nvSpPr>
        <p:spPr>
          <a:xfrm>
            <a:off x="6694097" y="672860"/>
            <a:ext cx="5497903" cy="4801314"/>
          </a:xfrm>
          <a:prstGeom prst="rect">
            <a:avLst/>
          </a:prstGeom>
          <a:noFill/>
        </p:spPr>
        <p:txBody>
          <a:bodyPr wrap="square" rtlCol="0">
            <a:spAutoFit/>
          </a:bodyPr>
          <a:lstStyle/>
          <a:p>
            <a:r>
              <a:rPr lang="en-US" dirty="0"/>
              <a:t>With the RGB 5-6-5 format, we transmit a total of 16 bits via the SPI protocol to change the color of a pixel. Therefore, two SPI transmissions are needed to transmit all the information of one color. In the first group of 8 bits, the 5 bits of channel R and the first 3 bits of channel G are transmitted, in the second byte the remaining 3 bits of channel G and the 5 bits of channel B are transmitted. In this case the D/CX line is high throughout the transmission and clearly CS is low. When the color information is transmitted, it is converted by means of a look-up table in RGB 6-6-6 format. Then, thanks to the memory window previously set with the RASET and CASET commands, the colors are written to RAM pixel by pixel, using the row and column counters seen previously. The next time the refresh is restored, the display scan will show the new data in memory on the screen.</a:t>
            </a:r>
            <a:endParaRPr lang="it-IT" dirty="0"/>
          </a:p>
        </p:txBody>
      </p:sp>
    </p:spTree>
    <p:extLst>
      <p:ext uri="{BB962C8B-B14F-4D97-AF65-F5344CB8AC3E}">
        <p14:creationId xmlns:p14="http://schemas.microsoft.com/office/powerpoint/2010/main" val="535823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ST7735: Power-On </a:t>
            </a:r>
            <a:r>
              <a:rPr lang="it-IT" sz="2800" b="1" dirty="0" err="1">
                <a:solidFill>
                  <a:schemeClr val="tx1">
                    <a:lumMod val="75000"/>
                    <a:lumOff val="25000"/>
                  </a:schemeClr>
                </a:solidFill>
              </a:rPr>
              <a:t>Sequence</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aphicFrame>
        <p:nvGraphicFramePr>
          <p:cNvPr id="2" name="Tabella 3">
            <a:extLst>
              <a:ext uri="{FF2B5EF4-FFF2-40B4-BE49-F238E27FC236}">
                <a16:creationId xmlns:a16="http://schemas.microsoft.com/office/drawing/2014/main" id="{1D3FF876-25CE-12EC-08A0-A9A9ED7CF3BE}"/>
              </a:ext>
            </a:extLst>
          </p:cNvPr>
          <p:cNvGraphicFramePr>
            <a:graphicFrameLocks noGrp="1"/>
          </p:cNvGraphicFramePr>
          <p:nvPr>
            <p:extLst>
              <p:ext uri="{D42A27DB-BD31-4B8C-83A1-F6EECF244321}">
                <p14:modId xmlns:p14="http://schemas.microsoft.com/office/powerpoint/2010/main" val="1436701331"/>
              </p:ext>
            </p:extLst>
          </p:nvPr>
        </p:nvGraphicFramePr>
        <p:xfrm>
          <a:off x="458978" y="700218"/>
          <a:ext cx="11274043" cy="5974080"/>
        </p:xfrm>
        <a:graphic>
          <a:graphicData uri="http://schemas.openxmlformats.org/drawingml/2006/table">
            <a:tbl>
              <a:tblPr firstRow="1" bandRow="1">
                <a:tableStyleId>{EB9631B5-78F2-41C9-869B-9F39066F8104}</a:tableStyleId>
              </a:tblPr>
              <a:tblGrid>
                <a:gridCol w="400050">
                  <a:extLst>
                    <a:ext uri="{9D8B030D-6E8A-4147-A177-3AD203B41FA5}">
                      <a16:colId xmlns:a16="http://schemas.microsoft.com/office/drawing/2014/main" val="2703569198"/>
                    </a:ext>
                  </a:extLst>
                </a:gridCol>
                <a:gridCol w="1852550">
                  <a:extLst>
                    <a:ext uri="{9D8B030D-6E8A-4147-A177-3AD203B41FA5}">
                      <a16:colId xmlns:a16="http://schemas.microsoft.com/office/drawing/2014/main" val="3865003324"/>
                    </a:ext>
                  </a:extLst>
                </a:gridCol>
                <a:gridCol w="728725">
                  <a:extLst>
                    <a:ext uri="{9D8B030D-6E8A-4147-A177-3AD203B41FA5}">
                      <a16:colId xmlns:a16="http://schemas.microsoft.com/office/drawing/2014/main" val="1310276128"/>
                    </a:ext>
                  </a:extLst>
                </a:gridCol>
                <a:gridCol w="3602692">
                  <a:extLst>
                    <a:ext uri="{9D8B030D-6E8A-4147-A177-3AD203B41FA5}">
                      <a16:colId xmlns:a16="http://schemas.microsoft.com/office/drawing/2014/main" val="1834273414"/>
                    </a:ext>
                  </a:extLst>
                </a:gridCol>
                <a:gridCol w="1516324">
                  <a:extLst>
                    <a:ext uri="{9D8B030D-6E8A-4147-A177-3AD203B41FA5}">
                      <a16:colId xmlns:a16="http://schemas.microsoft.com/office/drawing/2014/main" val="2410197347"/>
                    </a:ext>
                  </a:extLst>
                </a:gridCol>
                <a:gridCol w="3173702">
                  <a:extLst>
                    <a:ext uri="{9D8B030D-6E8A-4147-A177-3AD203B41FA5}">
                      <a16:colId xmlns:a16="http://schemas.microsoft.com/office/drawing/2014/main" val="1769939678"/>
                    </a:ext>
                  </a:extLst>
                </a:gridCol>
              </a:tblGrid>
              <a:tr h="240070">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Comando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err="1"/>
                        <a:t>Hex</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Parametri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Delay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Descrizione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67103839"/>
                  </a:ext>
                </a:extLst>
              </a:tr>
              <a:tr h="240070">
                <a:tc>
                  <a:txBody>
                    <a:bodyPr/>
                    <a:lstStyle/>
                    <a:p>
                      <a:pPr algn="ctr"/>
                      <a:r>
                        <a:rPr lang="it-IT" sz="10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SWRES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150 </a:t>
                      </a:r>
                      <a:r>
                        <a:rPr lang="it-IT" sz="1000" dirty="0" err="1"/>
                        <a:t>ms</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Software Reset.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99031611"/>
                  </a:ext>
                </a:extLst>
              </a:tr>
              <a:tr h="240070">
                <a:tc>
                  <a:txBody>
                    <a:bodyPr/>
                    <a:lstStyle/>
                    <a:p>
                      <a:pPr algn="ctr"/>
                      <a:r>
                        <a:rPr lang="it-IT" sz="1000"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SLOUT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255 </a:t>
                      </a:r>
                      <a:r>
                        <a:rPr lang="it-IT" sz="1000" dirty="0" err="1"/>
                        <a:t>ms</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Out of </a:t>
                      </a:r>
                      <a:r>
                        <a:rPr lang="it-IT" sz="1000" dirty="0" err="1"/>
                        <a:t>sleep</a:t>
                      </a:r>
                      <a:r>
                        <a:rPr lang="it-IT" sz="1000" dirty="0"/>
                        <a:t>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75100494"/>
                  </a:ext>
                </a:extLst>
              </a:tr>
              <a:tr h="540158">
                <a:tc>
                  <a:txBody>
                    <a:bodyPr/>
                    <a:lstStyle/>
                    <a:p>
                      <a:pPr algn="ctr"/>
                      <a:r>
                        <a:rPr lang="it-IT" sz="1000"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FRMCTR1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0xB1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0x01, 0x2C, 0x2D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Frame rate </a:t>
                      </a:r>
                      <a:r>
                        <a:rPr lang="it-IT" sz="1000" dirty="0" err="1"/>
                        <a:t>ctrl</a:t>
                      </a:r>
                      <a:r>
                        <a:rPr lang="it-IT" sz="1000" dirty="0"/>
                        <a:t> – </a:t>
                      </a:r>
                      <a:r>
                        <a:rPr lang="it-IT" sz="1000" dirty="0" err="1"/>
                        <a:t>normal</a:t>
                      </a:r>
                      <a:r>
                        <a:rPr lang="it-IT" sz="1000" dirty="0"/>
                        <a:t> mode. Rate = f/((</a:t>
                      </a:r>
                      <a:r>
                        <a:rPr lang="it-IT" sz="1000" dirty="0" err="1"/>
                        <a:t>args</a:t>
                      </a:r>
                      <a:r>
                        <a:rPr lang="it-IT" sz="1000" dirty="0"/>
                        <a:t>[0]+20)*(128+args[1]+</a:t>
                      </a:r>
                      <a:r>
                        <a:rPr lang="it-IT" sz="1000" dirty="0" err="1"/>
                        <a:t>args</a:t>
                      </a:r>
                      <a:r>
                        <a:rPr lang="it-IT" sz="1000" dirty="0"/>
                        <a:t>[2] = ~60 Hz. F vale 333 </a:t>
                      </a:r>
                      <a:r>
                        <a:rPr lang="it-IT" sz="1000" dirty="0" err="1"/>
                        <a:t>klHz</a:t>
                      </a:r>
                      <a:r>
                        <a:rPr lang="it-IT" sz="1000" dirty="0"/>
                        <a:t>. Imposta il </a:t>
                      </a:r>
                      <a:r>
                        <a:rPr lang="it-IT" sz="1000" dirty="0" err="1"/>
                        <a:t>framerate</a:t>
                      </a:r>
                      <a:r>
                        <a:rPr lang="it-IT" sz="1000" dirty="0"/>
                        <a:t> in </a:t>
                      </a:r>
                      <a:r>
                        <a:rPr lang="it-IT" sz="1000" dirty="0" err="1"/>
                        <a:t>normal</a:t>
                      </a:r>
                      <a:r>
                        <a:rPr lang="it-IT" sz="1000" dirty="0"/>
                        <a:t>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32026292"/>
                  </a:ext>
                </a:extLst>
              </a:tr>
              <a:tr h="240070">
                <a:tc>
                  <a:txBody>
                    <a:bodyPr/>
                    <a:lstStyle/>
                    <a:p>
                      <a:pPr algn="ctr"/>
                      <a:r>
                        <a:rPr lang="it-IT" sz="10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FRMCTR2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0xB2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dirty="0"/>
                        <a:t>0x01, 0x2C, 0x2D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Frame rate </a:t>
                      </a:r>
                      <a:r>
                        <a:rPr lang="it-IT" sz="1000" dirty="0" err="1"/>
                        <a:t>ctrl</a:t>
                      </a:r>
                      <a:r>
                        <a:rPr lang="it-IT" sz="1000" dirty="0"/>
                        <a:t> – </a:t>
                      </a:r>
                      <a:r>
                        <a:rPr lang="it-IT" sz="1000" dirty="0" err="1"/>
                        <a:t>idle</a:t>
                      </a:r>
                      <a:r>
                        <a:rPr lang="it-IT" sz="1000" dirty="0"/>
                        <a:t>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6554955"/>
                  </a:ext>
                </a:extLst>
              </a:tr>
              <a:tr h="240070">
                <a:tc>
                  <a:txBody>
                    <a:bodyPr/>
                    <a:lstStyle/>
                    <a:p>
                      <a:pPr algn="ctr"/>
                      <a:r>
                        <a:rPr lang="it-IT" sz="10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FRMCTR3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0xB3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it-IT" sz="1000" dirty="0"/>
                        <a:t>0x01, 0x2C, 0x2D, 0x01, 0x2C, 0x2D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Frame rate dot </a:t>
                      </a:r>
                      <a:r>
                        <a:rPr lang="it-IT" sz="1000" dirty="0" err="1"/>
                        <a:t>inversion</a:t>
                      </a:r>
                      <a:r>
                        <a:rPr lang="it-IT" sz="1000" dirty="0"/>
                        <a:t> e line </a:t>
                      </a:r>
                      <a:r>
                        <a:rPr lang="it-IT" sz="1000" dirty="0" err="1"/>
                        <a:t>inversion</a:t>
                      </a:r>
                      <a:r>
                        <a:rPr lang="it-IT" sz="1000" dirty="0"/>
                        <a:t> mode.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8775289"/>
                  </a:ext>
                </a:extLst>
              </a:tr>
              <a:tr h="240070">
                <a:tc>
                  <a:txBody>
                    <a:bodyPr/>
                    <a:lstStyle/>
                    <a:p>
                      <a:pPr algn="ctr"/>
                      <a:r>
                        <a:rPr lang="it-IT" sz="10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INVCTR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0xB4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t>Turn off reverse display refresh.</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06766899"/>
                  </a:ext>
                </a:extLst>
              </a:tr>
              <a:tr h="240070">
                <a:tc>
                  <a:txBody>
                    <a:bodyPr/>
                    <a:lstStyle/>
                    <a:p>
                      <a:pPr algn="ctr"/>
                      <a:r>
                        <a:rPr lang="it-IT" sz="1000" dirty="0"/>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PWCTR1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0xA2, 0x02, 0x84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rowSpan="6">
                  <a:txBody>
                    <a:bodyPr/>
                    <a:lstStyle/>
                    <a:p>
                      <a:pPr algn="ctr"/>
                      <a:r>
                        <a:rPr lang="it-IT" sz="1000" dirty="0"/>
                        <a:t>Power control.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10573009"/>
                  </a:ext>
                </a:extLst>
              </a:tr>
              <a:tr h="240070">
                <a:tc>
                  <a:txBody>
                    <a:bodyPr/>
                    <a:lstStyle/>
                    <a:p>
                      <a:pPr algn="ctr"/>
                      <a:r>
                        <a:rPr lang="it-IT" sz="1000" dirty="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PWCTR2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it-IT"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5058655"/>
                  </a:ext>
                </a:extLst>
              </a:tr>
              <a:tr h="240070">
                <a:tc>
                  <a:txBody>
                    <a:bodyPr/>
                    <a:lstStyle/>
                    <a:p>
                      <a:pPr algn="ctr"/>
                      <a:r>
                        <a:rPr lang="it-IT" sz="1000" dirty="0"/>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PWCTR3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0x0A, 0x00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it-IT"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96502920"/>
                  </a:ext>
                </a:extLst>
              </a:tr>
              <a:tr h="240070">
                <a:tc>
                  <a:txBody>
                    <a:bodyPr/>
                    <a:lstStyle/>
                    <a:p>
                      <a:pPr algn="ctr"/>
                      <a:r>
                        <a:rPr lang="it-IT" sz="1000" dirty="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PWCTR4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0x8A, 0x2A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it-IT"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42997846"/>
                  </a:ext>
                </a:extLst>
              </a:tr>
              <a:tr h="240070">
                <a:tc>
                  <a:txBody>
                    <a:bodyPr/>
                    <a:lstStyle/>
                    <a:p>
                      <a:pPr algn="ctr"/>
                      <a:r>
                        <a:rPr lang="it-IT" sz="1000" dirty="0"/>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PWCTR5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0x8A, 0xEE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it-IT"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437321"/>
                  </a:ext>
                </a:extLst>
              </a:tr>
              <a:tr h="240070">
                <a:tc>
                  <a:txBody>
                    <a:bodyPr/>
                    <a:lstStyle/>
                    <a:p>
                      <a:pPr algn="ctr"/>
                      <a:r>
                        <a:rPr lang="it-IT" sz="1000" dirty="0"/>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VMCTR1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vMerge="1">
                  <a:txBody>
                    <a:bodyPr/>
                    <a:lstStyle/>
                    <a:p>
                      <a:pPr algn="ctr"/>
                      <a:endParaRPr lang="it-IT" sz="11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12208172"/>
                  </a:ext>
                </a:extLst>
              </a:tr>
              <a:tr h="240070">
                <a:tc>
                  <a:txBody>
                    <a:bodyPr/>
                    <a:lstStyle/>
                    <a:p>
                      <a:pPr algn="ctr"/>
                      <a:r>
                        <a:rPr lang="it-IT" sz="1000" dirty="0"/>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INVOFF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Do </a:t>
                      </a:r>
                      <a:r>
                        <a:rPr lang="it-IT" sz="1000" dirty="0" err="1"/>
                        <a:t>not</a:t>
                      </a:r>
                      <a:r>
                        <a:rPr lang="it-IT" sz="1000" dirty="0"/>
                        <a:t> reverse display.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00206368"/>
                  </a:ext>
                </a:extLst>
              </a:tr>
              <a:tr h="240070">
                <a:tc>
                  <a:txBody>
                    <a:bodyPr/>
                    <a:lstStyle/>
                    <a:p>
                      <a:pPr algn="ctr"/>
                      <a:r>
                        <a:rPr lang="it-IT" sz="1000" dirty="0"/>
                        <a:t>14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MADCTL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0xC0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dirty="0"/>
                        <a:t>Refresh from bottom to top. Normal rotation.</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11732431"/>
                  </a:ext>
                </a:extLst>
              </a:tr>
              <a:tr h="240070">
                <a:tc>
                  <a:txBody>
                    <a:bodyPr/>
                    <a:lstStyle/>
                    <a:p>
                      <a:pPr algn="ctr"/>
                      <a:r>
                        <a:rPr lang="it-IT" sz="1000" dirty="0"/>
                        <a:t>16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COLMOD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0x3A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RGB color mode 5-6-5 16-bit.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706209"/>
                  </a:ext>
                </a:extLst>
              </a:tr>
              <a:tr h="240070">
                <a:tc>
                  <a:txBody>
                    <a:bodyPr/>
                    <a:lstStyle/>
                    <a:p>
                      <a:pPr algn="ctr"/>
                      <a:r>
                        <a:rPr lang="it-IT" sz="1000" dirty="0"/>
                        <a:t>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CASET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0x2A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0x00, 0x00, 0x00, 0x7F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err="1"/>
                        <a:t>Column</a:t>
                      </a:r>
                      <a:r>
                        <a:rPr lang="it-IT" sz="1000" dirty="0"/>
                        <a:t> </a:t>
                      </a:r>
                      <a:r>
                        <a:rPr lang="it-IT" sz="1000" dirty="0" err="1"/>
                        <a:t>Address</a:t>
                      </a:r>
                      <a:r>
                        <a:rPr lang="it-IT" sz="1000" dirty="0"/>
                        <a:t> 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13439191"/>
                  </a:ext>
                </a:extLst>
              </a:tr>
              <a:tr h="240070">
                <a:tc>
                  <a:txBody>
                    <a:bodyPr/>
                    <a:lstStyle/>
                    <a:p>
                      <a:pPr algn="ctr"/>
                      <a:r>
                        <a:rPr lang="it-IT" sz="1000" dirty="0"/>
                        <a:t>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RASET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0x2B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0x00, 0x00, 0x00, 0x9F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err="1"/>
                        <a:t>Row</a:t>
                      </a:r>
                      <a:r>
                        <a:rPr lang="it-IT" sz="1000" dirty="0"/>
                        <a:t> </a:t>
                      </a:r>
                      <a:r>
                        <a:rPr lang="it-IT" sz="1000" dirty="0" err="1"/>
                        <a:t>Address</a:t>
                      </a:r>
                      <a:r>
                        <a:rPr lang="it-IT" sz="1000" dirty="0"/>
                        <a:t> Set.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29528005"/>
                  </a:ext>
                </a:extLst>
              </a:tr>
              <a:tr h="390114">
                <a:tc>
                  <a:txBody>
                    <a:bodyPr/>
                    <a:lstStyle/>
                    <a:p>
                      <a:pPr algn="ctr"/>
                      <a:r>
                        <a:rPr lang="it-IT" sz="1000" dirty="0"/>
                        <a:t>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GMCTRP1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0xE0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kern="1200" dirty="0">
                          <a:solidFill>
                            <a:schemeClr val="dk1"/>
                          </a:solidFill>
                          <a:latin typeface="+mn-lt"/>
                          <a:ea typeface="+mn-ea"/>
                          <a:cs typeface="+mn-cs"/>
                        </a:rPr>
                        <a:t>0x02, 0x1C, 0x07, 0x12, 0x37, 0x32, 0x29, 0x2D,  0x29, 0x25, 0x2B, 0x39, 0x00, 0x01, 0x03, 0x10</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Gamma </a:t>
                      </a:r>
                      <a:r>
                        <a:rPr lang="it-IT" sz="1000" dirty="0" err="1"/>
                        <a:t>correction</a:t>
                      </a:r>
                      <a:r>
                        <a:rPr lang="it-IT" sz="1000" dirty="0"/>
                        <a:t> (positive </a:t>
                      </a:r>
                      <a:r>
                        <a:rPr lang="it-IT" sz="1000" dirty="0" err="1"/>
                        <a:t>polarity</a:t>
                      </a: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8958910"/>
                  </a:ext>
                </a:extLst>
              </a:tr>
              <a:tr h="390114">
                <a:tc>
                  <a:txBody>
                    <a:bodyPr/>
                    <a:lstStyle/>
                    <a:p>
                      <a:pPr algn="ctr"/>
                      <a:r>
                        <a:rPr lang="it-IT" sz="1000" dirty="0"/>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GMCTRN1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0xE1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kern="1200" dirty="0">
                          <a:solidFill>
                            <a:schemeClr val="dk1"/>
                          </a:solidFill>
                          <a:latin typeface="+mn-lt"/>
                          <a:ea typeface="+mn-ea"/>
                          <a:cs typeface="+mn-cs"/>
                        </a:rPr>
                        <a:t>0x03, 0x1D, 0x07, 0x06, 0x2E, 0x2C, 0x29, 0x2D, 0x2E, 0x2E, 0x37, 0x3F, 0x00, 0x00, 0x02, 0x10</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Gamma </a:t>
                      </a:r>
                      <a:r>
                        <a:rPr lang="it-IT" sz="1000" dirty="0" err="1"/>
                        <a:t>correction</a:t>
                      </a:r>
                      <a:r>
                        <a:rPr lang="it-IT" sz="1000" dirty="0"/>
                        <a:t> (negative </a:t>
                      </a:r>
                      <a:r>
                        <a:rPr lang="it-IT" sz="1000" dirty="0" err="1"/>
                        <a:t>polarity</a:t>
                      </a: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62612877"/>
                  </a:ext>
                </a:extLst>
              </a:tr>
              <a:tr h="240070">
                <a:tc>
                  <a:txBody>
                    <a:bodyPr/>
                    <a:lstStyle/>
                    <a:p>
                      <a:pPr algn="ctr"/>
                      <a:r>
                        <a:rPr lang="it-IT" sz="1000" dirty="0"/>
                        <a:t>21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NORON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10 </a:t>
                      </a:r>
                      <a:r>
                        <a:rPr lang="it-IT" sz="1000" dirty="0" err="1"/>
                        <a:t>ms</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err="1"/>
                        <a:t>Normal</a:t>
                      </a:r>
                      <a:r>
                        <a:rPr lang="it-IT" sz="1000" dirty="0"/>
                        <a:t> display 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41645554"/>
                  </a:ext>
                </a:extLst>
              </a:tr>
              <a:tr h="233340">
                <a:tc>
                  <a:txBody>
                    <a:bodyPr/>
                    <a:lstStyle/>
                    <a:p>
                      <a:pPr algn="ctr"/>
                      <a:r>
                        <a:rPr lang="it-IT" sz="1000" dirty="0"/>
                        <a:t>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DISPON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0x29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a:t>100 </a:t>
                      </a:r>
                      <a:r>
                        <a:rPr lang="it-IT" sz="1000" dirty="0" err="1"/>
                        <a:t>ms</a:t>
                      </a:r>
                      <a:endParaRPr lang="it-IT" sz="1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it-IT" sz="1000" dirty="0" err="1"/>
                        <a:t>Main</a:t>
                      </a:r>
                      <a:r>
                        <a:rPr lang="it-IT" sz="1000" dirty="0"/>
                        <a:t> screen 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54217042"/>
                  </a:ext>
                </a:extLst>
              </a:tr>
            </a:tbl>
          </a:graphicData>
        </a:graphic>
      </p:graphicFrame>
    </p:spTree>
    <p:extLst>
      <p:ext uri="{BB962C8B-B14F-4D97-AF65-F5344CB8AC3E}">
        <p14:creationId xmlns:p14="http://schemas.microsoft.com/office/powerpoint/2010/main" val="2148718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a:solidFill>
                  <a:schemeClr val="tx1">
                    <a:lumMod val="75000"/>
                    <a:lumOff val="25000"/>
                  </a:schemeClr>
                </a:solidFill>
              </a:rPr>
              <a:t>ST7735: code for STM32</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grpSp>
        <p:nvGrpSpPr>
          <p:cNvPr id="12" name="Gruppo 11">
            <a:extLst>
              <a:ext uri="{FF2B5EF4-FFF2-40B4-BE49-F238E27FC236}">
                <a16:creationId xmlns:a16="http://schemas.microsoft.com/office/drawing/2014/main" id="{EB2E264C-F9C6-96EE-EFCF-BE486637DB7A}"/>
              </a:ext>
            </a:extLst>
          </p:cNvPr>
          <p:cNvGrpSpPr/>
          <p:nvPr/>
        </p:nvGrpSpPr>
        <p:grpSpPr>
          <a:xfrm>
            <a:off x="3228575" y="1114334"/>
            <a:ext cx="5497903" cy="1733794"/>
            <a:chOff x="3228575" y="1114334"/>
            <a:chExt cx="5497903" cy="1733794"/>
          </a:xfrm>
        </p:grpSpPr>
        <p:pic>
          <p:nvPicPr>
            <p:cNvPr id="4" name="Immagine 3">
              <a:extLst>
                <a:ext uri="{FF2B5EF4-FFF2-40B4-BE49-F238E27FC236}">
                  <a16:creationId xmlns:a16="http://schemas.microsoft.com/office/drawing/2014/main" id="{3F366FA6-B2A0-C422-6001-C9C73A156184}"/>
                </a:ext>
              </a:extLst>
            </p:cNvPr>
            <p:cNvPicPr>
              <a:picLocks noChangeAspect="1"/>
            </p:cNvPicPr>
            <p:nvPr/>
          </p:nvPicPr>
          <p:blipFill>
            <a:blip r:embed="rId3"/>
            <a:stretch>
              <a:fillRect/>
            </a:stretch>
          </p:blipFill>
          <p:spPr>
            <a:xfrm>
              <a:off x="3457812" y="1114334"/>
              <a:ext cx="5039428" cy="1295581"/>
            </a:xfrm>
            <a:prstGeom prst="rect">
              <a:avLst/>
            </a:prstGeom>
          </p:spPr>
        </p:pic>
        <p:sp>
          <p:nvSpPr>
            <p:cNvPr id="13" name="CasellaDiTesto 12">
              <a:extLst>
                <a:ext uri="{FF2B5EF4-FFF2-40B4-BE49-F238E27FC236}">
                  <a16:creationId xmlns:a16="http://schemas.microsoft.com/office/drawing/2014/main" id="{F9B482F3-8EAE-5CEA-E9A4-78534C899A51}"/>
                </a:ext>
              </a:extLst>
            </p:cNvPr>
            <p:cNvSpPr txBox="1"/>
            <p:nvPr/>
          </p:nvSpPr>
          <p:spPr>
            <a:xfrm>
              <a:off x="3228575" y="2586518"/>
              <a:ext cx="5497903" cy="261610"/>
            </a:xfrm>
            <a:prstGeom prst="rect">
              <a:avLst/>
            </a:prstGeom>
            <a:noFill/>
          </p:spPr>
          <p:txBody>
            <a:bodyPr wrap="square" rtlCol="0">
              <a:spAutoFit/>
            </a:bodyPr>
            <a:lstStyle/>
            <a:p>
              <a:pPr algn="ctr"/>
              <a:r>
                <a:rPr lang="it-IT" sz="1100" b="1" dirty="0" err="1"/>
                <a:t>WriteCommand</a:t>
              </a:r>
              <a:r>
                <a:rPr lang="it-IT" sz="1100" b="1" dirty="0"/>
                <a:t> and </a:t>
              </a:r>
              <a:r>
                <a:rPr lang="it-IT" sz="1100" b="1" dirty="0" err="1"/>
                <a:t>WriteData</a:t>
              </a:r>
              <a:r>
                <a:rPr lang="it-IT" sz="1100" b="1" dirty="0"/>
                <a:t> </a:t>
              </a:r>
              <a:r>
                <a:rPr lang="it-IT" sz="1100" b="1" dirty="0" err="1"/>
                <a:t>Functions</a:t>
              </a:r>
              <a:endParaRPr lang="it-IT" sz="1100" b="1" dirty="0"/>
            </a:p>
          </p:txBody>
        </p:sp>
      </p:grpSp>
      <p:grpSp>
        <p:nvGrpSpPr>
          <p:cNvPr id="17" name="Gruppo 16">
            <a:extLst>
              <a:ext uri="{FF2B5EF4-FFF2-40B4-BE49-F238E27FC236}">
                <a16:creationId xmlns:a16="http://schemas.microsoft.com/office/drawing/2014/main" id="{2413747F-11F4-E3E5-0650-49B3720B5400}"/>
              </a:ext>
            </a:extLst>
          </p:cNvPr>
          <p:cNvGrpSpPr/>
          <p:nvPr/>
        </p:nvGrpSpPr>
        <p:grpSpPr>
          <a:xfrm>
            <a:off x="568496" y="3429000"/>
            <a:ext cx="11055008" cy="2807610"/>
            <a:chOff x="450022" y="3024731"/>
            <a:chExt cx="11055008" cy="2807610"/>
          </a:xfrm>
        </p:grpSpPr>
        <p:grpSp>
          <p:nvGrpSpPr>
            <p:cNvPr id="15" name="Gruppo 14">
              <a:extLst>
                <a:ext uri="{FF2B5EF4-FFF2-40B4-BE49-F238E27FC236}">
                  <a16:creationId xmlns:a16="http://schemas.microsoft.com/office/drawing/2014/main" id="{B392F01B-A3E2-8293-3B1D-56EB1C847A25}"/>
                </a:ext>
              </a:extLst>
            </p:cNvPr>
            <p:cNvGrpSpPr/>
            <p:nvPr/>
          </p:nvGrpSpPr>
          <p:grpSpPr>
            <a:xfrm>
              <a:off x="450022" y="3024731"/>
              <a:ext cx="11055008" cy="2546000"/>
              <a:chOff x="361150" y="3505047"/>
              <a:chExt cx="11055008" cy="2546000"/>
            </a:xfrm>
          </p:grpSpPr>
          <p:pic>
            <p:nvPicPr>
              <p:cNvPr id="6" name="Immagine 5">
                <a:extLst>
                  <a:ext uri="{FF2B5EF4-FFF2-40B4-BE49-F238E27FC236}">
                    <a16:creationId xmlns:a16="http://schemas.microsoft.com/office/drawing/2014/main" id="{E10F2FFF-0365-9EF5-DE32-311C2005CA31}"/>
                  </a:ext>
                </a:extLst>
              </p:cNvPr>
              <p:cNvPicPr>
                <a:picLocks noChangeAspect="1"/>
              </p:cNvPicPr>
              <p:nvPr/>
            </p:nvPicPr>
            <p:blipFill>
              <a:blip r:embed="rId4"/>
              <a:stretch>
                <a:fillRect/>
              </a:stretch>
            </p:blipFill>
            <p:spPr>
              <a:xfrm>
                <a:off x="361150" y="3505047"/>
                <a:ext cx="5734850" cy="2191056"/>
              </a:xfrm>
              <a:prstGeom prst="rect">
                <a:avLst/>
              </a:prstGeom>
            </p:spPr>
          </p:pic>
          <p:pic>
            <p:nvPicPr>
              <p:cNvPr id="10" name="Immagine 9">
                <a:extLst>
                  <a:ext uri="{FF2B5EF4-FFF2-40B4-BE49-F238E27FC236}">
                    <a16:creationId xmlns:a16="http://schemas.microsoft.com/office/drawing/2014/main" id="{11F6909F-2CDC-1392-9B57-7F0A81A28780}"/>
                  </a:ext>
                </a:extLst>
              </p:cNvPr>
              <p:cNvPicPr>
                <a:picLocks noChangeAspect="1"/>
              </p:cNvPicPr>
              <p:nvPr/>
            </p:nvPicPr>
            <p:blipFill>
              <a:blip r:embed="rId5"/>
              <a:stretch>
                <a:fillRect/>
              </a:stretch>
            </p:blipFill>
            <p:spPr>
              <a:xfrm>
                <a:off x="6376730" y="3505047"/>
                <a:ext cx="5039428" cy="2546000"/>
              </a:xfrm>
              <a:prstGeom prst="rect">
                <a:avLst/>
              </a:prstGeom>
            </p:spPr>
          </p:pic>
        </p:grpSp>
        <p:sp>
          <p:nvSpPr>
            <p:cNvPr id="16" name="CasellaDiTesto 15">
              <a:extLst>
                <a:ext uri="{FF2B5EF4-FFF2-40B4-BE49-F238E27FC236}">
                  <a16:creationId xmlns:a16="http://schemas.microsoft.com/office/drawing/2014/main" id="{28FE5887-9CC8-4378-53AF-AA69CB8AEAE3}"/>
                </a:ext>
              </a:extLst>
            </p:cNvPr>
            <p:cNvSpPr txBox="1"/>
            <p:nvPr/>
          </p:nvSpPr>
          <p:spPr>
            <a:xfrm>
              <a:off x="3190475" y="5570731"/>
              <a:ext cx="5497903" cy="261610"/>
            </a:xfrm>
            <a:prstGeom prst="rect">
              <a:avLst/>
            </a:prstGeom>
            <a:noFill/>
          </p:spPr>
          <p:txBody>
            <a:bodyPr wrap="square" rtlCol="0">
              <a:spAutoFit/>
            </a:bodyPr>
            <a:lstStyle/>
            <a:p>
              <a:pPr algn="ctr"/>
              <a:r>
                <a:rPr lang="it-IT" sz="1100" b="1" dirty="0" err="1"/>
                <a:t>SetAddressWindow</a:t>
              </a:r>
              <a:r>
                <a:rPr lang="it-IT" sz="1100" b="1" dirty="0"/>
                <a:t> and </a:t>
              </a:r>
              <a:r>
                <a:rPr lang="it-IT" sz="1100" b="1" dirty="0" err="1"/>
                <a:t>FillRectangle</a:t>
              </a:r>
              <a:r>
                <a:rPr lang="it-IT" sz="1100" b="1" dirty="0"/>
                <a:t> </a:t>
              </a:r>
              <a:r>
                <a:rPr lang="it-IT" sz="1100" b="1" dirty="0" err="1"/>
                <a:t>Functions</a:t>
              </a:r>
              <a:endParaRPr lang="it-IT" sz="1100" b="1" dirty="0"/>
            </a:p>
          </p:txBody>
        </p:sp>
      </p:grpSp>
    </p:spTree>
    <p:extLst>
      <p:ext uri="{BB962C8B-B14F-4D97-AF65-F5344CB8AC3E}">
        <p14:creationId xmlns:p14="http://schemas.microsoft.com/office/powerpoint/2010/main" val="915718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err="1">
                <a:solidFill>
                  <a:schemeClr val="tx1">
                    <a:lumMod val="75000"/>
                    <a:lumOff val="25000"/>
                  </a:schemeClr>
                </a:solidFill>
              </a:rPr>
              <a:t>AndroidMote</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7" name="Immagine 6">
            <a:extLst>
              <a:ext uri="{FF2B5EF4-FFF2-40B4-BE49-F238E27FC236}">
                <a16:creationId xmlns:a16="http://schemas.microsoft.com/office/drawing/2014/main" id="{5D24477C-8656-D96E-A1F5-F6530423D7AB}"/>
              </a:ext>
            </a:extLst>
          </p:cNvPr>
          <p:cNvPicPr>
            <a:picLocks noChangeAspect="1"/>
          </p:cNvPicPr>
          <p:nvPr/>
        </p:nvPicPr>
        <p:blipFill>
          <a:blip r:embed="rId3"/>
          <a:stretch>
            <a:fillRect/>
          </a:stretch>
        </p:blipFill>
        <p:spPr>
          <a:xfrm>
            <a:off x="3095625" y="960906"/>
            <a:ext cx="6000750" cy="2829817"/>
          </a:xfrm>
          <a:prstGeom prst="rect">
            <a:avLst/>
          </a:prstGeom>
        </p:spPr>
      </p:pic>
      <p:sp>
        <p:nvSpPr>
          <p:cNvPr id="18" name="CasellaDiTesto 17">
            <a:extLst>
              <a:ext uri="{FF2B5EF4-FFF2-40B4-BE49-F238E27FC236}">
                <a16:creationId xmlns:a16="http://schemas.microsoft.com/office/drawing/2014/main" id="{E40504D6-1FAC-FB25-BEB7-29D2003774F4}"/>
              </a:ext>
            </a:extLst>
          </p:cNvPr>
          <p:cNvSpPr txBox="1"/>
          <p:nvPr/>
        </p:nvSpPr>
        <p:spPr>
          <a:xfrm>
            <a:off x="1064822" y="4190584"/>
            <a:ext cx="9660328" cy="2031325"/>
          </a:xfrm>
          <a:prstGeom prst="rect">
            <a:avLst/>
          </a:prstGeom>
          <a:noFill/>
        </p:spPr>
        <p:txBody>
          <a:bodyPr wrap="square" rtlCol="0">
            <a:spAutoFit/>
          </a:bodyPr>
          <a:lstStyle/>
          <a:p>
            <a:r>
              <a:rPr lang="en-US" dirty="0" err="1"/>
              <a:t>AndroidMote</a:t>
            </a:r>
            <a:r>
              <a:rPr lang="en-US" dirty="0"/>
              <a:t> is the application made to use your phone as a pointing device. The interface consists of the camera preview accompanied by a vertical slider bar that includes controls for image processing and Bluetooth connectivity. The OpenCV library was used for image processing, while a library was also used for Bluetooth connectivity using the SPP profile.
Among the controls we have the possibility to change the preview mode, to modify the brightness threshold for the detection of bright spots, the adjustment of the Gaussian blur and the activation / deactivation of the bounding boxes.</a:t>
            </a:r>
            <a:endParaRPr lang="it-IT" dirty="0"/>
          </a:p>
        </p:txBody>
      </p:sp>
    </p:spTree>
    <p:extLst>
      <p:ext uri="{BB962C8B-B14F-4D97-AF65-F5344CB8AC3E}">
        <p14:creationId xmlns:p14="http://schemas.microsoft.com/office/powerpoint/2010/main" val="1840374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it-IT" sz="2800" b="1" dirty="0" err="1">
                <a:solidFill>
                  <a:schemeClr val="tx1">
                    <a:lumMod val="75000"/>
                    <a:lumOff val="25000"/>
                  </a:schemeClr>
                </a:solidFill>
              </a:rPr>
              <a:t>OpenCV</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5" name="Immagine 4">
            <a:extLst>
              <a:ext uri="{FF2B5EF4-FFF2-40B4-BE49-F238E27FC236}">
                <a16:creationId xmlns:a16="http://schemas.microsoft.com/office/drawing/2014/main" id="{96929AF0-94D3-FCDD-B035-8318E2161062}"/>
              </a:ext>
            </a:extLst>
          </p:cNvPr>
          <p:cNvPicPr>
            <a:picLocks noChangeAspect="1"/>
          </p:cNvPicPr>
          <p:nvPr/>
        </p:nvPicPr>
        <p:blipFill>
          <a:blip r:embed="rId3"/>
          <a:stretch>
            <a:fillRect/>
          </a:stretch>
        </p:blipFill>
        <p:spPr>
          <a:xfrm>
            <a:off x="450190" y="997135"/>
            <a:ext cx="2239732" cy="1679799"/>
          </a:xfrm>
          <a:prstGeom prst="rect">
            <a:avLst/>
          </a:prstGeom>
        </p:spPr>
      </p:pic>
      <p:pic>
        <p:nvPicPr>
          <p:cNvPr id="10" name="Immagine 9">
            <a:extLst>
              <a:ext uri="{FF2B5EF4-FFF2-40B4-BE49-F238E27FC236}">
                <a16:creationId xmlns:a16="http://schemas.microsoft.com/office/drawing/2014/main" id="{90BFA383-5203-24F4-83F1-26D386F702D1}"/>
              </a:ext>
            </a:extLst>
          </p:cNvPr>
          <p:cNvPicPr>
            <a:picLocks noChangeAspect="1"/>
          </p:cNvPicPr>
          <p:nvPr/>
        </p:nvPicPr>
        <p:blipFill>
          <a:blip r:embed="rId4"/>
          <a:stretch>
            <a:fillRect/>
          </a:stretch>
        </p:blipFill>
        <p:spPr>
          <a:xfrm>
            <a:off x="3380295" y="997135"/>
            <a:ext cx="2239731" cy="1679798"/>
          </a:xfrm>
          <a:prstGeom prst="rect">
            <a:avLst/>
          </a:prstGeom>
        </p:spPr>
      </p:pic>
      <p:pic>
        <p:nvPicPr>
          <p:cNvPr id="13" name="Immagine 12">
            <a:extLst>
              <a:ext uri="{FF2B5EF4-FFF2-40B4-BE49-F238E27FC236}">
                <a16:creationId xmlns:a16="http://schemas.microsoft.com/office/drawing/2014/main" id="{698FD0F1-C3E8-D28A-CA07-499E8B78E8FF}"/>
              </a:ext>
            </a:extLst>
          </p:cNvPr>
          <p:cNvPicPr>
            <a:picLocks noChangeAspect="1"/>
          </p:cNvPicPr>
          <p:nvPr/>
        </p:nvPicPr>
        <p:blipFill>
          <a:blip r:embed="rId5"/>
          <a:stretch>
            <a:fillRect/>
          </a:stretch>
        </p:blipFill>
        <p:spPr>
          <a:xfrm>
            <a:off x="6310399" y="997135"/>
            <a:ext cx="2239732" cy="1679799"/>
          </a:xfrm>
          <a:prstGeom prst="rect">
            <a:avLst/>
          </a:prstGeom>
        </p:spPr>
      </p:pic>
      <p:pic>
        <p:nvPicPr>
          <p:cNvPr id="16" name="Immagine 15">
            <a:extLst>
              <a:ext uri="{FF2B5EF4-FFF2-40B4-BE49-F238E27FC236}">
                <a16:creationId xmlns:a16="http://schemas.microsoft.com/office/drawing/2014/main" id="{04CEE3B2-5D1E-C0D4-F1DF-9B6A3C67AB3B}"/>
              </a:ext>
            </a:extLst>
          </p:cNvPr>
          <p:cNvPicPr>
            <a:picLocks noChangeAspect="1"/>
          </p:cNvPicPr>
          <p:nvPr/>
        </p:nvPicPr>
        <p:blipFill>
          <a:blip r:embed="rId6"/>
          <a:stretch>
            <a:fillRect/>
          </a:stretch>
        </p:blipFill>
        <p:spPr>
          <a:xfrm>
            <a:off x="9240506" y="997135"/>
            <a:ext cx="2239732" cy="1679799"/>
          </a:xfrm>
          <a:prstGeom prst="rect">
            <a:avLst/>
          </a:prstGeom>
        </p:spPr>
      </p:pic>
      <p:sp>
        <p:nvSpPr>
          <p:cNvPr id="17" name="Freccia a destra 16">
            <a:extLst>
              <a:ext uri="{FF2B5EF4-FFF2-40B4-BE49-F238E27FC236}">
                <a16:creationId xmlns:a16="http://schemas.microsoft.com/office/drawing/2014/main" id="{F1083007-BFAF-6DC0-C0A3-333EE2C73846}"/>
              </a:ext>
            </a:extLst>
          </p:cNvPr>
          <p:cNvSpPr/>
          <p:nvPr/>
        </p:nvSpPr>
        <p:spPr>
          <a:xfrm>
            <a:off x="2836701" y="1724891"/>
            <a:ext cx="396815" cy="224287"/>
          </a:xfrm>
          <a:prstGeom prst="rightArrow">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it-IT"/>
          </a:p>
        </p:txBody>
      </p:sp>
      <p:sp>
        <p:nvSpPr>
          <p:cNvPr id="19" name="Freccia a destra 18">
            <a:extLst>
              <a:ext uri="{FF2B5EF4-FFF2-40B4-BE49-F238E27FC236}">
                <a16:creationId xmlns:a16="http://schemas.microsoft.com/office/drawing/2014/main" id="{208ED4CE-C162-9862-E980-180806072DCE}"/>
              </a:ext>
            </a:extLst>
          </p:cNvPr>
          <p:cNvSpPr/>
          <p:nvPr/>
        </p:nvSpPr>
        <p:spPr>
          <a:xfrm>
            <a:off x="5766805" y="1724891"/>
            <a:ext cx="396815" cy="224287"/>
          </a:xfrm>
          <a:prstGeom prst="rightArrow">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it-IT"/>
          </a:p>
        </p:txBody>
      </p:sp>
      <p:sp>
        <p:nvSpPr>
          <p:cNvPr id="20" name="Freccia a destra 19">
            <a:extLst>
              <a:ext uri="{FF2B5EF4-FFF2-40B4-BE49-F238E27FC236}">
                <a16:creationId xmlns:a16="http://schemas.microsoft.com/office/drawing/2014/main" id="{7D09F3A5-66DD-A022-D9D9-A90FD903B5FE}"/>
              </a:ext>
            </a:extLst>
          </p:cNvPr>
          <p:cNvSpPr/>
          <p:nvPr/>
        </p:nvSpPr>
        <p:spPr>
          <a:xfrm>
            <a:off x="8696910" y="1724891"/>
            <a:ext cx="396815" cy="224287"/>
          </a:xfrm>
          <a:prstGeom prst="rightArrow">
            <a:avLst/>
          </a:prstGeom>
          <a:solidFill>
            <a:schemeClr val="accent3">
              <a:lumMod val="75000"/>
            </a:scheme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it-IT"/>
          </a:p>
        </p:txBody>
      </p:sp>
      <p:sp>
        <p:nvSpPr>
          <p:cNvPr id="21" name="CasellaDiTesto 20">
            <a:extLst>
              <a:ext uri="{FF2B5EF4-FFF2-40B4-BE49-F238E27FC236}">
                <a16:creationId xmlns:a16="http://schemas.microsoft.com/office/drawing/2014/main" id="{5383C2FC-0853-29FF-AD85-8B120C4078C2}"/>
              </a:ext>
            </a:extLst>
          </p:cNvPr>
          <p:cNvSpPr txBox="1"/>
          <p:nvPr/>
        </p:nvSpPr>
        <p:spPr>
          <a:xfrm>
            <a:off x="2928355" y="2676933"/>
            <a:ext cx="3143609" cy="261610"/>
          </a:xfrm>
          <a:prstGeom prst="rect">
            <a:avLst/>
          </a:prstGeom>
          <a:noFill/>
        </p:spPr>
        <p:txBody>
          <a:bodyPr wrap="square" rtlCol="0">
            <a:spAutoFit/>
          </a:bodyPr>
          <a:lstStyle/>
          <a:p>
            <a:pPr algn="ctr"/>
            <a:r>
              <a:rPr lang="it-IT" sz="1100" b="1" dirty="0"/>
              <a:t>Black and white and </a:t>
            </a:r>
            <a:r>
              <a:rPr lang="it-IT" sz="1100" b="1" dirty="0" err="1"/>
              <a:t>Gaussian</a:t>
            </a:r>
            <a:r>
              <a:rPr lang="it-IT" sz="1100" b="1" dirty="0"/>
              <a:t> Blur</a:t>
            </a:r>
          </a:p>
        </p:txBody>
      </p:sp>
      <p:sp>
        <p:nvSpPr>
          <p:cNvPr id="22" name="CasellaDiTesto 21">
            <a:extLst>
              <a:ext uri="{FF2B5EF4-FFF2-40B4-BE49-F238E27FC236}">
                <a16:creationId xmlns:a16="http://schemas.microsoft.com/office/drawing/2014/main" id="{D8B210F4-9925-B3E0-EA39-367B0A0F7FF9}"/>
              </a:ext>
            </a:extLst>
          </p:cNvPr>
          <p:cNvSpPr txBox="1"/>
          <p:nvPr/>
        </p:nvSpPr>
        <p:spPr>
          <a:xfrm>
            <a:off x="8788567" y="2676933"/>
            <a:ext cx="3143609" cy="261610"/>
          </a:xfrm>
          <a:prstGeom prst="rect">
            <a:avLst/>
          </a:prstGeom>
          <a:noFill/>
        </p:spPr>
        <p:txBody>
          <a:bodyPr wrap="square" rtlCol="0">
            <a:spAutoFit/>
          </a:bodyPr>
          <a:lstStyle/>
          <a:p>
            <a:pPr algn="ctr"/>
            <a:r>
              <a:rPr lang="it-IT" sz="1100" b="1" dirty="0" err="1"/>
              <a:t>Connected</a:t>
            </a:r>
            <a:r>
              <a:rPr lang="it-IT" sz="1100" b="1" dirty="0"/>
              <a:t> Components e </a:t>
            </a:r>
            <a:r>
              <a:rPr lang="it-IT" sz="1100" b="1" dirty="0" err="1"/>
              <a:t>Bounding</a:t>
            </a:r>
            <a:r>
              <a:rPr lang="it-IT" sz="1100" b="1" dirty="0"/>
              <a:t> Box</a:t>
            </a:r>
          </a:p>
        </p:txBody>
      </p:sp>
      <p:sp>
        <p:nvSpPr>
          <p:cNvPr id="23" name="CasellaDiTesto 22">
            <a:extLst>
              <a:ext uri="{FF2B5EF4-FFF2-40B4-BE49-F238E27FC236}">
                <a16:creationId xmlns:a16="http://schemas.microsoft.com/office/drawing/2014/main" id="{939D0F3C-D429-B10A-D790-80A05CA5156A}"/>
              </a:ext>
            </a:extLst>
          </p:cNvPr>
          <p:cNvSpPr txBox="1"/>
          <p:nvPr/>
        </p:nvSpPr>
        <p:spPr>
          <a:xfrm>
            <a:off x="5858460" y="2681086"/>
            <a:ext cx="3143609" cy="261610"/>
          </a:xfrm>
          <a:prstGeom prst="rect">
            <a:avLst/>
          </a:prstGeom>
          <a:noFill/>
        </p:spPr>
        <p:txBody>
          <a:bodyPr wrap="square" rtlCol="0">
            <a:spAutoFit/>
          </a:bodyPr>
          <a:lstStyle/>
          <a:p>
            <a:pPr algn="ctr"/>
            <a:r>
              <a:rPr lang="it-IT" sz="1100" b="1" dirty="0" err="1"/>
              <a:t>Threshold</a:t>
            </a:r>
            <a:endParaRPr lang="it-IT" sz="1100" b="1" dirty="0"/>
          </a:p>
        </p:txBody>
      </p:sp>
      <p:sp>
        <p:nvSpPr>
          <p:cNvPr id="24" name="CasellaDiTesto 23">
            <a:extLst>
              <a:ext uri="{FF2B5EF4-FFF2-40B4-BE49-F238E27FC236}">
                <a16:creationId xmlns:a16="http://schemas.microsoft.com/office/drawing/2014/main" id="{357C4C01-B9C9-B4A9-D781-A36D82A793AF}"/>
              </a:ext>
            </a:extLst>
          </p:cNvPr>
          <p:cNvSpPr txBox="1"/>
          <p:nvPr/>
        </p:nvSpPr>
        <p:spPr>
          <a:xfrm>
            <a:off x="-108501" y="2672780"/>
            <a:ext cx="3143609" cy="261610"/>
          </a:xfrm>
          <a:prstGeom prst="rect">
            <a:avLst/>
          </a:prstGeom>
          <a:noFill/>
        </p:spPr>
        <p:txBody>
          <a:bodyPr wrap="square" rtlCol="0">
            <a:spAutoFit/>
          </a:bodyPr>
          <a:lstStyle/>
          <a:p>
            <a:pPr algn="ctr"/>
            <a:r>
              <a:rPr lang="it-IT" sz="1100" b="1" dirty="0" err="1"/>
              <a:t>Raw</a:t>
            </a:r>
            <a:endParaRPr lang="it-IT" sz="1100" b="1" dirty="0"/>
          </a:p>
        </p:txBody>
      </p:sp>
      <p:sp>
        <p:nvSpPr>
          <p:cNvPr id="25" name="CasellaDiTesto 24">
            <a:extLst>
              <a:ext uri="{FF2B5EF4-FFF2-40B4-BE49-F238E27FC236}">
                <a16:creationId xmlns:a16="http://schemas.microsoft.com/office/drawing/2014/main" id="{F0975A71-D500-344C-957D-F2F469266BB4}"/>
              </a:ext>
            </a:extLst>
          </p:cNvPr>
          <p:cNvSpPr txBox="1"/>
          <p:nvPr/>
        </p:nvSpPr>
        <p:spPr>
          <a:xfrm>
            <a:off x="1064822" y="4190584"/>
            <a:ext cx="9660328" cy="2031325"/>
          </a:xfrm>
          <a:prstGeom prst="rect">
            <a:avLst/>
          </a:prstGeom>
          <a:noFill/>
        </p:spPr>
        <p:txBody>
          <a:bodyPr wrap="square" rtlCol="0">
            <a:spAutoFit/>
          </a:bodyPr>
          <a:lstStyle/>
          <a:p>
            <a:r>
              <a:rPr lang="en-US" dirty="0"/>
              <a:t>The processing done in OpenCV every time a frame arrives first performs a grayscale conversion. Gaussian blur is then applied to eliminate any noise from small points of light and to reduce the effect of minor variations in a bright area. Subsequently, with a threshold, all the areas of low brightness are discarded. The last processing consists of identifying the connected pixels (Connected Components) and drawing a bounding box around each of the identified areas.
Starting with OpenCV processing, the center of up to two light zones and their relative size are sent via Bluetooth SPP to the HC-05.</a:t>
            </a:r>
            <a:endParaRPr lang="it-IT" dirty="0"/>
          </a:p>
        </p:txBody>
      </p:sp>
    </p:spTree>
    <p:extLst>
      <p:ext uri="{BB962C8B-B14F-4D97-AF65-F5344CB8AC3E}">
        <p14:creationId xmlns:p14="http://schemas.microsoft.com/office/powerpoint/2010/main" val="3275423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olo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it-IT" dirty="0"/>
              <a:t>Analisi progetto diapositiva 3</a:t>
            </a:r>
          </a:p>
        </p:txBody>
      </p:sp>
      <p:cxnSp>
        <p:nvCxnSpPr>
          <p:cNvPr id="8" name="Connettore diritto 7">
            <a:extLst>
              <a:ext uri="{FF2B5EF4-FFF2-40B4-BE49-F238E27FC236}">
                <a16:creationId xmlns:a16="http://schemas.microsoft.com/office/drawing/2014/main" id="{D0986099-F5F2-4E8B-BE17-81194861A00C}"/>
              </a:ext>
              <a:ext uri="{C183D7F6-B498-43B3-948B-1728B52AA6E4}">
                <adec:decorative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olo 1">
            <a:extLst>
              <a:ext uri="{FF2B5EF4-FFF2-40B4-BE49-F238E27FC236}">
                <a16:creationId xmlns:a16="http://schemas.microsoft.com/office/drawing/2014/main" id="{4E3F5479-058B-4FA8-92E9-18CAB8CDC5C5}"/>
              </a:ext>
            </a:extLst>
          </p:cNvPr>
          <p:cNvSpPr txBox="1">
            <a:spLocks/>
          </p:cNvSpPr>
          <p:nvPr/>
        </p:nvSpPr>
        <p:spPr>
          <a:xfrm>
            <a:off x="228600" y="173247"/>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it-IT" sz="2800" b="1" dirty="0">
                <a:solidFill>
                  <a:schemeClr val="tx1">
                    <a:lumMod val="75000"/>
                    <a:lumOff val="25000"/>
                  </a:schemeClr>
                </a:solidFill>
              </a:rPr>
              <a:t>HC-05: Bluetooth Data Reception</a:t>
            </a:r>
            <a:endParaRPr lang="it-IT" sz="2800" dirty="0">
              <a:solidFill>
                <a:schemeClr val="tx1">
                  <a:lumMod val="75000"/>
                  <a:lumOff val="25000"/>
                </a:schemeClr>
              </a:solidFill>
            </a:endParaRPr>
          </a:p>
        </p:txBody>
      </p:sp>
      <p:cxnSp>
        <p:nvCxnSpPr>
          <p:cNvPr id="14" name="Connettore diritto 13">
            <a:extLst>
              <a:ext uri="{FF2B5EF4-FFF2-40B4-BE49-F238E27FC236}">
                <a16:creationId xmlns:a16="http://schemas.microsoft.com/office/drawing/2014/main" id="{83E690F4-843A-47A5-8620-4FB01C0D8E68}"/>
              </a:ext>
              <a:ext uri="{C183D7F6-B498-43B3-948B-1728B52AA6E4}">
                <adec:decorative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3" name="Immagine 2">
            <a:extLst>
              <a:ext uri="{FF2B5EF4-FFF2-40B4-BE49-F238E27FC236}">
                <a16:creationId xmlns:a16="http://schemas.microsoft.com/office/drawing/2014/main" id="{6877B53F-1A71-60E3-79C4-24FC2DD325B6}"/>
              </a:ext>
            </a:extLst>
          </p:cNvPr>
          <p:cNvPicPr>
            <a:picLocks noChangeAspect="1"/>
          </p:cNvPicPr>
          <p:nvPr/>
        </p:nvPicPr>
        <p:blipFill>
          <a:blip r:embed="rId3"/>
          <a:stretch>
            <a:fillRect/>
          </a:stretch>
        </p:blipFill>
        <p:spPr>
          <a:xfrm>
            <a:off x="333472" y="827417"/>
            <a:ext cx="4111328" cy="5857336"/>
          </a:xfrm>
          <a:prstGeom prst="rect">
            <a:avLst/>
          </a:prstGeom>
        </p:spPr>
      </p:pic>
      <p:sp>
        <p:nvSpPr>
          <p:cNvPr id="25" name="CasellaDiTesto 24">
            <a:extLst>
              <a:ext uri="{FF2B5EF4-FFF2-40B4-BE49-F238E27FC236}">
                <a16:creationId xmlns:a16="http://schemas.microsoft.com/office/drawing/2014/main" id="{3FBBECBF-C15E-5EE5-6248-DFABE0671752}"/>
              </a:ext>
            </a:extLst>
          </p:cNvPr>
          <p:cNvSpPr txBox="1"/>
          <p:nvPr/>
        </p:nvSpPr>
        <p:spPr>
          <a:xfrm>
            <a:off x="4847468" y="671006"/>
            <a:ext cx="7115932" cy="5078313"/>
          </a:xfrm>
          <a:prstGeom prst="rect">
            <a:avLst/>
          </a:prstGeom>
          <a:noFill/>
        </p:spPr>
        <p:txBody>
          <a:bodyPr wrap="square" rtlCol="0">
            <a:spAutoFit/>
          </a:bodyPr>
          <a:lstStyle/>
          <a:p>
            <a:r>
              <a:rPr lang="en-US" dirty="0"/>
              <a:t>If only one bright area is found, it is used as a pointer by drawing a red square on the ST7735.</a:t>
            </a:r>
          </a:p>
          <a:p>
            <a:endParaRPr lang="it-IT" dirty="0"/>
          </a:p>
          <a:p>
            <a:r>
              <a:rPr lang="en-US" dirty="0"/>
              <a:t>If two bright areas are identified, their midpoint is drawn on the screen as a red square. The relative size of the two highlights is used to calculate and display a pointer approximation (white square) that takes perspective into account. </a:t>
            </a:r>
          </a:p>
          <a:p>
            <a:r>
              <a:rPr lang="en-US" dirty="0"/>
              <a:t>
In fact, if a bright area on the right is larger than one on the left, the pointer must be moved more to the left; vice versa, if the bright area on the left of the image is larger than the one on the right, then you can move the pointer more to the right.</a:t>
            </a:r>
          </a:p>
          <a:p>
            <a:endParaRPr lang="it-IT" dirty="0"/>
          </a:p>
          <a:p>
            <a:r>
              <a:rPr lang="en-US" dirty="0"/>
              <a:t>As far as the implementation aspect is concerned, an interruption has been made on reception through UART. In this interruption, the areas previously occupied by the pointers are first colored black, then the information received from the HC-05 is extracted and converted, and finally, after the necessary calculations, the new pointers are drawn.</a:t>
            </a:r>
            <a:endParaRPr lang="it-IT" dirty="0"/>
          </a:p>
        </p:txBody>
      </p:sp>
    </p:spTree>
    <p:extLst>
      <p:ext uri="{BB962C8B-B14F-4D97-AF65-F5344CB8AC3E}">
        <p14:creationId xmlns:p14="http://schemas.microsoft.com/office/powerpoint/2010/main" val="6876412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uppo 10">
            <a:extLst>
              <a:ext uri="{FF2B5EF4-FFF2-40B4-BE49-F238E27FC236}">
                <a16:creationId xmlns:a16="http://schemas.microsoft.com/office/drawing/2014/main" id="{62A21665-C64F-4BDA-B2DE-442D70605718}"/>
              </a:ext>
              <a:ext uri="{C183D7F6-B498-43B3-948B-1728B52AA6E4}">
                <adec:decorative xmlns:adec="http://schemas.microsoft.com/office/drawing/2017/decorative" val="1"/>
              </a:ext>
            </a:extLst>
          </p:cNvPr>
          <p:cNvGrpSpPr/>
          <p:nvPr/>
        </p:nvGrpSpPr>
        <p:grpSpPr>
          <a:xfrm>
            <a:off x="4325258" y="1544068"/>
            <a:ext cx="3541486" cy="3769865"/>
            <a:chOff x="4325258" y="1229517"/>
            <a:chExt cx="3541486" cy="3769865"/>
          </a:xfrm>
        </p:grpSpPr>
        <p:sp>
          <p:nvSpPr>
            <p:cNvPr id="12" name="Rombo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sp>
          <p:nvSpPr>
            <p:cNvPr id="13" name="Rombo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it-IT" dirty="0"/>
            </a:p>
          </p:txBody>
        </p:sp>
      </p:grpSp>
      <p:sp>
        <p:nvSpPr>
          <p:cNvPr id="15" name="Titolo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rtlCol="0" anchor="ctr">
            <a:spAutoFit/>
          </a:bodyPr>
          <a:lstStyle/>
          <a:p>
            <a:r>
              <a:rPr lang="it-IT" sz="7200" b="1" dirty="0">
                <a:solidFill>
                  <a:schemeClr val="bg1"/>
                </a:solidFill>
              </a:rPr>
              <a:t>Thank you</a:t>
            </a:r>
            <a:endParaRPr lang="it-IT" sz="7200" dirty="0">
              <a:solidFill>
                <a:schemeClr val="accent4"/>
              </a:solidFill>
            </a:endParaRPr>
          </a:p>
        </p:txBody>
      </p:sp>
    </p:spTree>
    <p:extLst>
      <p:ext uri="{BB962C8B-B14F-4D97-AF65-F5344CB8AC3E}">
        <p14:creationId xmlns:p14="http://schemas.microsoft.com/office/powerpoint/2010/main" val="1923038163"/>
      </p:ext>
    </p:extLst>
  </p:cSld>
  <p:clrMapOvr>
    <a:masterClrMapping/>
  </p:clrMapOvr>
</p:sld>
</file>

<file path=ppt/theme/theme1.xml><?xml version="1.0" encoding="utf-8"?>
<a:theme xmlns:a="http://schemas.openxmlformats.org/drawingml/2006/main" name="Tema di Offic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740442_TF78455520.potx" id="{18B1944C-1E7D-43C4-975E-E50ACFFDB4A4}" vid="{83F0D432-2B92-4580-B168-71CC71A93FAD}"/>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Analisi di progetto, da 24Slides</Template>
  <TotalTime>1615</TotalTime>
  <Words>2751</Words>
  <Application>Microsoft Office PowerPoint</Application>
  <PresentationFormat>Widescreen</PresentationFormat>
  <Paragraphs>245</Paragraphs>
  <Slides>22</Slides>
  <Notes>22</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22</vt:i4>
      </vt:variant>
    </vt:vector>
  </HeadingPairs>
  <TitlesOfParts>
    <vt:vector size="28" baseType="lpstr">
      <vt:lpstr>Arial</vt:lpstr>
      <vt:lpstr>Calibri</vt:lpstr>
      <vt:lpstr>Century Gothic</vt:lpstr>
      <vt:lpstr>Segoe UI</vt:lpstr>
      <vt:lpstr>Segoe UI Light</vt:lpstr>
      <vt:lpstr>Tema di Office</vt:lpstr>
      <vt:lpstr>AndroidMote</vt:lpstr>
      <vt:lpstr>Analisi progetto diapositiva 2</vt:lpstr>
      <vt:lpstr>Analisi progetto diapositiva 2</vt:lpstr>
      <vt:lpstr>Analisi progetto diapositiva 2</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Analisi progetto diapositiva 3</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Analisi del progetto Presentazione</dc:title>
  <dc:creator>RAFFAELE CARILLO</dc:creator>
  <cp:lastModifiedBy>RAFFAELE CARILLO</cp:lastModifiedBy>
  <cp:revision>5</cp:revision>
  <dcterms:created xsi:type="dcterms:W3CDTF">2022-06-30T00:00:41Z</dcterms:created>
  <dcterms:modified xsi:type="dcterms:W3CDTF">2026-02-23T17:44:41Z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2026-02-23T17:44:41Z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7ca5b4b8-fc7a-4b98-8aac-f6deedefff47</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ies>
</file>